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0cc04c553142af" /><Relationship Type="http://schemas.openxmlformats.org/officeDocument/2006/relationships/extended-properties" Target="/docProps/app.xml" Id="R467042fd6eaf425c" /><Relationship Type="http://schemas.openxmlformats.org/officeDocument/2006/relationships/officeDocument" Target="/ppt/presentation.xml" Id="R590dbc01020a48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002f43ed46641a7"/>
  </p:sldMasterIdLst>
  <p:notesMasterIdLst>
    <p:notesMasterId xmlns:r="http://schemas.openxmlformats.org/officeDocument/2006/relationships" r:id="R263b07c7430547b9"/>
  </p:notesMasterIdLst>
  <p:sldIdLst>
    <p:sldId xmlns:r="http://schemas.openxmlformats.org/officeDocument/2006/relationships" id="256" r:id="Re15bfa0a27194af7"/>
    <p:sldId xmlns:r="http://schemas.openxmlformats.org/officeDocument/2006/relationships" id="257" r:id="Rcb76b33ff148456f"/>
    <p:sldId xmlns:r="http://schemas.openxmlformats.org/officeDocument/2006/relationships" id="258" r:id="R510b693d89fd404e"/>
    <p:sldId xmlns:r="http://schemas.openxmlformats.org/officeDocument/2006/relationships" id="259" r:id="Raff41f3a11fc4a99"/>
    <p:sldId xmlns:r="http://schemas.openxmlformats.org/officeDocument/2006/relationships" id="260" r:id="R759e471c599f42e8"/>
    <p:sldId xmlns:r="http://schemas.openxmlformats.org/officeDocument/2006/relationships" id="261" r:id="R5bdb8abf34f848d1"/>
    <p:sldId xmlns:r="http://schemas.openxmlformats.org/officeDocument/2006/relationships" id="262" r:id="R2c96501bc6da4948"/>
    <p:sldId xmlns:r="http://schemas.openxmlformats.org/officeDocument/2006/relationships" id="263" r:id="R5e9ab9c19f9d4f07"/>
    <p:sldId xmlns:r="http://schemas.openxmlformats.org/officeDocument/2006/relationships" id="264" r:id="R85039b41b7124f89"/>
    <p:sldId xmlns:r="http://schemas.openxmlformats.org/officeDocument/2006/relationships" id="265" r:id="R371ac9aa9ba841c6"/>
    <p:sldId xmlns:r="http://schemas.openxmlformats.org/officeDocument/2006/relationships" id="266" r:id="R433dc135efd447c0"/>
    <p:sldId xmlns:r="http://schemas.openxmlformats.org/officeDocument/2006/relationships" id="267" r:id="R3bdb91159cce4586"/>
    <p:sldId xmlns:r="http://schemas.openxmlformats.org/officeDocument/2006/relationships" id="268" r:id="R527ad6b7095a4da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27fcf9b63a4d32" /><Relationship Type="http://schemas.openxmlformats.org/officeDocument/2006/relationships/slideMaster" Target="/ppt/slideMasters/slideMaster1.xml" Id="R5002f43ed46641a7" /><Relationship Type="http://schemas.openxmlformats.org/officeDocument/2006/relationships/notesMaster" Target="/ppt/notesMasters/notesMaster1.xml" Id="R263b07c7430547b9" /><Relationship Type="http://schemas.openxmlformats.org/officeDocument/2006/relationships/presProps" Target="/ppt/presProps.xml" Id="Rf35c58161fda4b12" /><Relationship Type="http://schemas.openxmlformats.org/officeDocument/2006/relationships/tableStyles" Target="/ppt/tableStyles.xml" Id="R9f11c797e02e45d2" /><Relationship Type="http://schemas.openxmlformats.org/officeDocument/2006/relationships/slide" Target="/ppt/slides/slide1.xml" Id="Re15bfa0a27194af7" /><Relationship Type="http://schemas.openxmlformats.org/officeDocument/2006/relationships/slide" Target="/ppt/slides/slide2.xml" Id="Rcb76b33ff148456f" /><Relationship Type="http://schemas.openxmlformats.org/officeDocument/2006/relationships/slide" Target="/ppt/slides/slide3.xml" Id="R510b693d89fd404e" /><Relationship Type="http://schemas.openxmlformats.org/officeDocument/2006/relationships/slide" Target="/ppt/slides/slide4.xml" Id="Raff41f3a11fc4a99" /><Relationship Type="http://schemas.openxmlformats.org/officeDocument/2006/relationships/slide" Target="/ppt/slides/slide5.xml" Id="R759e471c599f42e8" /><Relationship Type="http://schemas.openxmlformats.org/officeDocument/2006/relationships/slide" Target="/ppt/slides/slide6.xml" Id="R5bdb8abf34f848d1" /><Relationship Type="http://schemas.openxmlformats.org/officeDocument/2006/relationships/slide" Target="/ppt/slides/slide7.xml" Id="R2c96501bc6da4948" /><Relationship Type="http://schemas.openxmlformats.org/officeDocument/2006/relationships/slide" Target="/ppt/slides/slide8.xml" Id="R5e9ab9c19f9d4f07" /><Relationship Type="http://schemas.openxmlformats.org/officeDocument/2006/relationships/slide" Target="/ppt/slides/slide9.xml" Id="R85039b41b7124f89" /><Relationship Type="http://schemas.openxmlformats.org/officeDocument/2006/relationships/slide" Target="/ppt/slides/slide10.xml" Id="R371ac9aa9ba841c6" /><Relationship Type="http://schemas.openxmlformats.org/officeDocument/2006/relationships/slide" Target="/ppt/slides/slide11.xml" Id="R433dc135efd447c0" /><Relationship Type="http://schemas.openxmlformats.org/officeDocument/2006/relationships/slide" Target="/ppt/slides/slide12.xml" Id="R3bdb91159cce4586" /><Relationship Type="http://schemas.openxmlformats.org/officeDocument/2006/relationships/slide" Target="/ppt/slides/slide13.xml" Id="R527ad6b7095a4d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265839644642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90b51bc9f754db0" /><Relationship Type="http://schemas.openxmlformats.org/officeDocument/2006/relationships/notesMaster" Target="/ppt/notesMasters/notesMaster1.xml" Id="R82d224a354b942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d54dd832244362" /><Relationship Type="http://schemas.openxmlformats.org/officeDocument/2006/relationships/notesMaster" Target="/ppt/notesMasters/notesMaster1.xml" Id="R0f043eea9ef7448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e5e31dbe9347b3" /><Relationship Type="http://schemas.openxmlformats.org/officeDocument/2006/relationships/notesMaster" Target="/ppt/notesMasters/notesMaster1.xml" Id="Rd97584d495234f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75fbbfab82e4dcd" /><Relationship Type="http://schemas.openxmlformats.org/officeDocument/2006/relationships/notesMaster" Target="/ppt/notesMasters/notesMaster1.xml" Id="Rc6dda67dcca84aa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452db6028b74c37" /><Relationship Type="http://schemas.openxmlformats.org/officeDocument/2006/relationships/notesMaster" Target="/ppt/notesMasters/notesMaster1.xml" Id="Rcd58ce1a649246e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0990dea3d5b4c42" /><Relationship Type="http://schemas.openxmlformats.org/officeDocument/2006/relationships/notesMaster" Target="/ppt/notesMasters/notesMaster1.xml" Id="R721209961cd7446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abbadee46394669" /><Relationship Type="http://schemas.openxmlformats.org/officeDocument/2006/relationships/notesMaster" Target="/ppt/notesMasters/notesMaster1.xml" Id="R36a86e88c18f42c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9d19b0859004775" /><Relationship Type="http://schemas.openxmlformats.org/officeDocument/2006/relationships/notesMaster" Target="/ppt/notesMasters/notesMaster1.xml" Id="Re5862e77eb5e4ae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245b8b7760e494c" /><Relationship Type="http://schemas.openxmlformats.org/officeDocument/2006/relationships/notesMaster" Target="/ppt/notesMasters/notesMaster1.xml" Id="R3334c59499bb469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2bb8fa27be24ea1" /><Relationship Type="http://schemas.openxmlformats.org/officeDocument/2006/relationships/notesMaster" Target="/ppt/notesMasters/notesMaster1.xml" Id="R5f995bbeafce4b0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0b6f217bb4943f4" /><Relationship Type="http://schemas.openxmlformats.org/officeDocument/2006/relationships/notesMaster" Target="/ppt/notesMasters/notesMaster1.xml" Id="R5cd0471932644c6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b20ec50c7054fe3" /><Relationship Type="http://schemas.openxmlformats.org/officeDocument/2006/relationships/notesMaster" Target="/ppt/notesMasters/notesMaster1.xml" Id="R7f7545ba6fb042f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8bd610167934923" /><Relationship Type="http://schemas.openxmlformats.org/officeDocument/2006/relationships/notesMaster" Target="/ppt/notesMasters/notesMaster1.xml" Id="R8b66c4f149aa43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0f64a27e3647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c428a2ef8e4f7f" /><Relationship Type="http://schemas.openxmlformats.org/officeDocument/2006/relationships/slideLayout" Target="/ppt/slideLayouts/slideLayout1.xml" Id="R750f843ed63745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0f843ed63745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502277efec45d2" /><Relationship Type="http://schemas.openxmlformats.org/officeDocument/2006/relationships/notesSlide" Target="/ppt/notesSlides/notesSlide1.xml" Id="R8296e189e69e425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03b832b37348ad" /><Relationship Type="http://schemas.openxmlformats.org/officeDocument/2006/relationships/notesSlide" Target="/ppt/notesSlides/notesSlide2.xml" Id="Rb6b8e7033f1b475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614a3a6e18401e" /><Relationship Type="http://schemas.openxmlformats.org/officeDocument/2006/relationships/notesSlide" Target="/ppt/notesSlides/notesSlide3.xml" Id="R9cc19872ead04d1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ac0b323ab6421b" /><Relationship Type="http://schemas.openxmlformats.org/officeDocument/2006/relationships/notesSlide" Target="/ppt/notesSlides/notesSlide4.xml" Id="Rbb92e68df69540b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a3cba7cb7242a4" /><Relationship Type="http://schemas.openxmlformats.org/officeDocument/2006/relationships/notesSlide" Target="/ppt/notesSlides/notesSlide5.xml" Id="Rd9db03b2cd2342b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eef24e705f4c9f" /><Relationship Type="http://schemas.openxmlformats.org/officeDocument/2006/relationships/notesSlide" Target="/ppt/notesSlides/notesSlide6.xml" Id="R0cf7a119f0e84a4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c5a7a5881e44db" /><Relationship Type="http://schemas.openxmlformats.org/officeDocument/2006/relationships/image" Target="/ppt/media/image.png" Id="R1eeb747fc536473c" /><Relationship Type="http://schemas.openxmlformats.org/officeDocument/2006/relationships/notesSlide" Target="/ppt/notesSlides/notesSlide7.xml" Id="R0e364016cfa44d9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d6283a9e844829" /><Relationship Type="http://schemas.openxmlformats.org/officeDocument/2006/relationships/image" Target="/ppt/media/image2.png" Id="Ra3f2cbce151544ae" /><Relationship Type="http://schemas.openxmlformats.org/officeDocument/2006/relationships/notesSlide" Target="/ppt/notesSlides/notesSlide8.xml" Id="R9dcd0e08c0a74ed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0a3eeac82347e0" /><Relationship Type="http://schemas.openxmlformats.org/officeDocument/2006/relationships/notesSlide" Target="/ppt/notesSlides/notesSlide9.xml" Id="Re21430f61d464d7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bb115225034cc2" /><Relationship Type="http://schemas.openxmlformats.org/officeDocument/2006/relationships/notesSlide" Target="/ppt/notesSlides/notesSlide10.xml" Id="Ra508e68742de4f9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c2ebc6bd4a4a6a" /><Relationship Type="http://schemas.openxmlformats.org/officeDocument/2006/relationships/notesSlide" Target="/ppt/notesSlides/notesSlide11.xml" Id="Rec4b924ff27d4dc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558b1334014363" /><Relationship Type="http://schemas.openxmlformats.org/officeDocument/2006/relationships/image" Target="/ppt/media/image3.png" Id="R18c31244e3e648c8" /><Relationship Type="http://schemas.openxmlformats.org/officeDocument/2006/relationships/notesSlide" Target="/ppt/notesSlides/notesSlide12.xml" Id="R81794c8e8c0e4e0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d5061cf5fe439a" /><Relationship Type="http://schemas.openxmlformats.org/officeDocument/2006/relationships/notesSlide" Target="/ppt/notesSlides/notesSlide13.xml" Id="R00431b5db4b248e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DC4C2F-E491-4051-AC4E-39E4A97E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050" b="1">
                <a:solidFill>
                  <a:srgbClr val="00666F"/>
                </a:solidFill>
              </a:defRPr>
            </a:pPr>
            <a:r>
              <a:rPr sz="4050" b="1">
                <a:solidFill>
                  <a:srgbClr val="00666F"/>
                </a:solidFill>
              </a:rPr>
              <a:t>AirBorder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8A96FE-5420-4A3B-930D-FE0BB7EB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80962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800" b="1">
                <a:solidFill>
                  <a:srgbClr val="111827"/>
                </a:solidFill>
              </a:defRPr>
            </a:pPr>
            <a:r>
              <a:rPr sz="4800" b="1">
                <a:solidFill>
                  <a:srgbClr val="111827"/>
                </a:solidFill>
              </a:rPr>
              <a:t>Long-haul layover companion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B43897-83B6-4D2E-A493-04EE19F7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6625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B6472"/>
                </a:solidFill>
              </a:defRPr>
            </a:pPr>
            <a:r>
              <a:rPr sz="1800" b="0">
                <a:solidFill>
                  <a:srgbClr val="5B6472"/>
                </a:solidFill>
              </a:rPr>
              <a:t>A passenger-centered mobile assistant for complex international transits, airport changes, baggage handling, and time-sensitive city or airport plans.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3FBCBF-D50D-4809-A2F6-A4998A161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742950"/>
            <a:ext cx="2571750" cy="4953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6299D1-5B78-4DD5-988D-B459D800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31445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0666F"/>
                </a:solidFill>
              </a:defRPr>
            </a:pPr>
            <a:r>
              <a:rPr sz="2025" b="1">
                <a:solidFill>
                  <a:srgbClr val="00666F"/>
                </a:solidFill>
              </a:rPr>
              <a:t>BKK → HND</a:t>
            </a:r>
          </a:p>
          <a:p xmlns:a="http://schemas.openxmlformats.org/drawingml/2006/main">
            <a:pPr>
              <a:buNone/>
              <a:defRPr sz="2025" b="1">
                <a:solidFill>
                  <a:srgbClr val="00666F"/>
                </a:solidFill>
              </a:defRPr>
            </a:pPr>
            <a:r>
              <a:rPr sz="2025" b="1">
                <a:solidFill>
                  <a:srgbClr val="00666F"/>
                </a:solidFill>
              </a:rPr>
              <a:t>→ LAX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AFD0A9-2613-451D-86D6-8EFF9C95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431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B6472"/>
                </a:solidFill>
              </a:defRPr>
            </a:pPr>
            <a:r>
              <a:rPr sz="1500" b="0">
                <a:solidFill>
                  <a:srgbClr val="5B6472"/>
                </a:solidFill>
              </a:rPr>
              <a:t>Reference journey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33911A-2A75-4AB9-98C2-1909C0AB2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47950"/>
            <a:ext cx="2000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Gate</a:t>
            </a:r>
          </a:p>
          <a:p xmlns:a="http://schemas.openxmlformats.org/drawingml/2006/main">
            <a:pPr>
              <a:buNone/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Weather</a:t>
            </a:r>
          </a:p>
          <a:p xmlns:a="http://schemas.openxmlformats.org/drawingml/2006/main">
            <a:pPr>
              <a:buNone/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Bags</a:t>
            </a:r>
          </a:p>
          <a:p xmlns:a="http://schemas.openxmlformats.org/drawingml/2006/main">
            <a:pPr>
              <a:buNone/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Entry</a:t>
            </a:r>
          </a:p>
          <a:p xmlns:a="http://schemas.openxmlformats.org/drawingml/2006/main">
            <a:pPr>
              <a:buNone/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Map</a:t>
            </a:r>
          </a:p>
          <a:p xmlns:a="http://schemas.openxmlformats.org/drawingml/2006/main">
            <a:pPr>
              <a:buNone/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Return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961B65-8E05-4063-AB49-ACCDBF3C8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solidFill>
              <a:srgbClr val="D7DC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3DD671-19CA-4294-8351-6278582D0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Project presentation · July 2026</a:t>
            </a:r>
          </a:p>
        </p:txBody>
      </p:sp>
    </p:spTree>
    <p:extLst>
      <p:ext uri="{BB962C8B-B14F-4D97-AF65-F5344CB8AC3E}">
        <p14:creationId xmlns:p14="http://schemas.microsoft.com/office/powerpoint/2010/main" val="21140141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520EFE-6E85-4A98-9ADE-9B6E9E613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00666F"/>
                </a:solidFill>
              </a:defRPr>
            </a:pPr>
            <a:r>
              <a:rPr sz="1050" b="1">
                <a:solidFill>
                  <a:srgbClr val="00666F"/>
                </a:solidFill>
              </a:rPr>
              <a:t>AIRBORDER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FD29EB-AF69-4F9E-8009-4996E908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Long-haul transfers create too many moving parts for one screen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4BB8FD-84F1-4088-87F3-AA0149A91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solidFill>
              <a:srgbClr val="D7DC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6F6A72-0F48-4788-8E7B-088B1144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7810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11827"/>
                </a:solidFill>
              </a:defRPr>
            </a:pPr>
            <a:r>
              <a:rPr sz="2025" b="0">
                <a:solidFill>
                  <a:srgbClr val="111827"/>
                </a:solidFill>
              </a:rPr>
              <a:t>AirBorder’s design goal is to turn scattered travel information into one simple sequence: understand the connection, choose what is feasible, and always know how to get back to the gate.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E9C753-C809-4577-A52B-404B0588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333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6AFA5C-7D49-442F-8901-2B8D3CB80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6F"/>
          </a:solidFill>
          <a:ln xmlns:a="http://schemas.openxmlformats.org/drawingml/2006/main" w="0">
            <a:solidFill>
              <a:srgbClr val="00666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2BF0A6-231B-4F8F-B947-77C7453E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What passengers ask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A6B70B-0401-4F4C-8D7A-1FA8C8F06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29337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Do I have enough time? Are my bags transferred? Can I leave the airport? Where can I rest, work, eat, or buy something?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34232D-17E6-4BA6-B002-A2CB292D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57500"/>
            <a:ext cx="3333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2C58EC-870B-4198-959A-0EF70D8A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575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F770FC-8771-4770-A4E1-518CA2621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028950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What changes live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3A2CB8-2B35-4D7C-A513-FE5BD02BF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390900"/>
            <a:ext cx="29337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Gate, delay outlook, boarding time, weather, ground transport, facility hours, and the passenger’s current location.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C58403-3305-4750-90D2-859430F2C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57500"/>
            <a:ext cx="3333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1D3935-7DC1-47DE-8DCF-854ED389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575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19F2AB-B911-4A34-AFDD-5602F0D12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28950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What the UI must 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60D0A3-360D-49D4-B32B-C939EA73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90900"/>
            <a:ext cx="29337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Use short passenger-facing language, keep essential timing visible, and avoid exposing backend calculations unless the user opens supporting details.</a:t>
            </a:r>
          </a:p>
        </p:txBody>
      </p:sp>
    </p:spTree>
    <p:extLst>
      <p:ext uri="{BB962C8B-B14F-4D97-AF65-F5344CB8AC3E}">
        <p14:creationId xmlns:p14="http://schemas.microsoft.com/office/powerpoint/2010/main" val="20334595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569A1B-4CEA-4414-B405-95EBCB65A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00666F"/>
                </a:solidFill>
              </a:defRPr>
            </a:pPr>
            <a:r>
              <a:rPr sz="1050" b="1">
                <a:solidFill>
                  <a:srgbClr val="00666F"/>
                </a:solidFill>
              </a:rPr>
              <a:t>AIRBORDER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9BC4A3-AC8E-4465-9378-F4887098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Persona: an international traveler with a high-friction layover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16CEFD-43F9-4448-9235-F1ABA295C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solidFill>
              <a:srgbClr val="D7DC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E8794A-4969-4A00-B562-D42C38EFE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143250" cy="37147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EF7F7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438ABC-94CD-4E5C-91FE-1F54F92FC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47875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00666F"/>
                </a:solidFill>
              </a:defRPr>
            </a:pPr>
            <a:r>
              <a:rPr sz="3000" b="1">
                <a:solidFill>
                  <a:srgbClr val="00666F"/>
                </a:solidFill>
              </a:rPr>
              <a:t>Alex Chen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7DCD33-A8B6-41EF-B80F-FF3C0CFE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24150"/>
            <a:ext cx="2381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38-year-old Singaporean business traveler</a:t>
            </a:r>
          </a:p>
          <a:p xmlns:a="http://schemas.openxmlformats.org/drawingml/2006/main">
            <a:pPr>
              <a:buNone/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Bangkok → Tokyo → Los Angeles</a:t>
            </a:r>
          </a:p>
          <a:p xmlns:a="http://schemas.openxmlformats.org/drawingml/2006/main">
            <a:pPr>
              <a:buNone/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Time-sensitive, budget-aware, carrying checked baggage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9D5A8A-E8C9-461D-96B7-DFD1BB3F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767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Success means she reaches boarding calmly, not just that she sees a list of places.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F8774A-9CB9-4262-B7A7-2C9AB5CB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335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0871A5-B290-4F04-B47B-D9727CE0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847850"/>
            <a:ext cx="6210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11827"/>
                </a:solidFill>
              </a:defRPr>
            </a:pPr>
            <a:r>
              <a:rPr sz="1875" b="0">
                <a:solidFill>
                  <a:srgbClr val="111827"/>
                </a:solidFill>
              </a:rPr>
              <a:t>Needs to know whether she must reclaim and recheck bags.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29707C-B8D0-4143-9212-F033B3C9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14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C79C1C-8B9B-4A42-B286-A2BF2CF0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628900"/>
            <a:ext cx="6210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11827"/>
                </a:solidFill>
              </a:defRPr>
            </a:pPr>
            <a:r>
              <a:rPr sz="1875" b="0">
                <a:solidFill>
                  <a:srgbClr val="111827"/>
                </a:solidFill>
              </a:rPr>
              <a:t>Wants a work pod, shower, affordable food, or a short city visit if time allows.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6181BD-B03C-4778-BDD7-E524F9654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956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9C9C8D-CC81-4FD2-B94F-D0BA4711E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409950"/>
            <a:ext cx="6210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11827"/>
                </a:solidFill>
              </a:defRPr>
            </a:pPr>
            <a:r>
              <a:rPr sz="1875" b="0">
                <a:solidFill>
                  <a:srgbClr val="111827"/>
                </a:solidFill>
              </a:rPr>
              <a:t>Prefers clear route steps over technical confidence labels.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C6D032-666B-40EA-B720-94EB1EA7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76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75095E-4646-41EF-A6B0-64E48413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191000"/>
            <a:ext cx="6210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11827"/>
                </a:solidFill>
              </a:defRPr>
            </a:pPr>
            <a:r>
              <a:rPr sz="1875" b="0">
                <a:solidFill>
                  <a:srgbClr val="111827"/>
                </a:solidFill>
              </a:rPr>
              <a:t>Needs entry and transit information in plain language, with links kept inside the app.</a:t>
            </a:r>
          </a:p>
        </p:txBody>
      </p:sp>
    </p:spTree>
    <p:extLst>
      <p:ext uri="{BB962C8B-B14F-4D97-AF65-F5344CB8AC3E}">
        <p14:creationId xmlns:p14="http://schemas.microsoft.com/office/powerpoint/2010/main" val="1674637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274790-AFBB-4D93-AA5A-E88CC0D4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00666F"/>
                </a:solidFill>
              </a:defRPr>
            </a:pPr>
            <a:r>
              <a:rPr sz="1050" b="1">
                <a:solidFill>
                  <a:srgbClr val="00666F"/>
                </a:solidFill>
              </a:rPr>
              <a:t>AIRBORDER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6D059C-40DE-4296-9A03-F5330E506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Scenario: BKK–HND–LAX, with HND as the fully populated airport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2989A7-652E-40E9-9211-0A57C5B8E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solidFill>
              <a:srgbClr val="D7DC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35050D-8938-48C4-8978-5E83B80B6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1809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9D9FF4-8983-45D7-89B5-524545F74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71700"/>
            <a:ext cx="1504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Depart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BKK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90A87D-3622-4716-AC85-3EB366B5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95550"/>
            <a:ext cx="952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0666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CC64B5-5D87-45D7-81EB-FF51C5F1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00250"/>
            <a:ext cx="1809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4217A4-4911-4939-B620-D68F32D3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171700"/>
            <a:ext cx="1504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Arrive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HND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F4A631-882D-41DA-8AB1-6CDACC803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95550"/>
            <a:ext cx="952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0666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2D9816-7D9A-4A42-B04A-F029B228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000250"/>
            <a:ext cx="1809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84B10A-3BE2-40B7-A7C3-DCA57CAF8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71700"/>
            <a:ext cx="1504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Layover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Tokyo Haneda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83239C-B839-4916-B795-9B164276C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95550"/>
            <a:ext cx="952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0666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5C2395-8F57-414E-B6C8-674839673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000250"/>
            <a:ext cx="1809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CD9E30-B1FC-46C1-88AC-220A05D9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171700"/>
            <a:ext cx="1504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Board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HND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F5016A-C86F-4429-B069-7F5BBF4A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95550"/>
            <a:ext cx="952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0666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9F21DB-EB18-41AE-B903-48C7069D9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00250"/>
            <a:ext cx="1809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3D2F64-F956-41BA-90A4-C9E9FDAF6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171700"/>
            <a:ext cx="1504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Arrive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LAX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9D0616-E16E-4752-AF0C-B38E6F61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2385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7E8553-E861-4237-964F-D5F5D3AEC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6667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6F"/>
          </a:solidFill>
          <a:ln xmlns:a="http://schemas.openxmlformats.org/drawingml/2006/main" w="0">
            <a:solidFill>
              <a:srgbClr val="00666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0E5DBC-9E63-491F-BD2F-81232B3B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86200"/>
            <a:ext cx="2838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Core question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E6E665-1E1D-46A6-A4C4-978919F0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48150"/>
            <a:ext cx="2838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Can the passenger safely use the layover for rest, work, food, shopping, a hotel, or a city visit?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0103D9-B591-4C70-B9D2-AA3C08F0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2385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227171-2D40-4FAC-A8B3-BD165A7A7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6667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70A956-47A8-49BD-B164-C8E0168A2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886200"/>
            <a:ext cx="2838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Additional scenario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836E88-463E-473C-B532-C5D3156FC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248150"/>
            <a:ext cx="2838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If flights split across airports, AirBorder handles HND → NRT as a mandatory surface transfer before any optional stop.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B35C1A-53EE-419A-89BE-16170526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14750"/>
            <a:ext cx="32385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D1378C-2059-40DB-B80C-D0AC383A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14750"/>
            <a:ext cx="6667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B5A4FF-E4F2-4755-883E-CA25AE10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86200"/>
            <a:ext cx="2838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Passenger outcome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EB74CE-D000-400E-81BC-41DCBF6D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48150"/>
            <a:ext cx="2838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The app shows the next action first, then the best options ranked by time, cost, access, fatigue, weather, and route complexity.</a:t>
            </a:r>
          </a:p>
        </p:txBody>
      </p:sp>
    </p:spTree>
    <p:extLst>
      <p:ext uri="{BB962C8B-B14F-4D97-AF65-F5344CB8AC3E}">
        <p14:creationId xmlns:p14="http://schemas.microsoft.com/office/powerpoint/2010/main" val="9608656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0D8426-B895-4490-9E7E-B967949D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00666F"/>
                </a:solidFill>
              </a:defRPr>
            </a:pPr>
            <a:r>
              <a:rPr sz="1050" b="1">
                <a:solidFill>
                  <a:srgbClr val="00666F"/>
                </a:solidFill>
              </a:rPr>
              <a:t>AIRBORDER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845407-ADF6-4A00-B3AA-E2B4052A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Storyboard: from ticket scan to boarding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4F5397-EBC1-45B0-9205-6625F245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solidFill>
              <a:srgbClr val="D7DC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D555D2-8E3B-4069-A42F-D5754BE03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866900" cy="32956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76EA62-895B-4B30-945D-6F58567FA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523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00666F"/>
                </a:solidFill>
              </a:defRPr>
            </a:pPr>
            <a:r>
              <a:rPr sz="3300" b="1">
                <a:solidFill>
                  <a:srgbClr val="00666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F4DCD2-77AA-4DAE-949A-B95ADA92B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1485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Import ticket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B978EA-C5BD-457C-BB13-FB6600B04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81375"/>
            <a:ext cx="14859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Scan a PDF or add flights manually. The app reads route, dates, airports, and airline context.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1C055F-E06D-4BE2-9E10-0E0446954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90700"/>
            <a:ext cx="1866900" cy="32956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00A206-A14D-4233-AADE-13AED9F92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000250"/>
            <a:ext cx="523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00666F"/>
                </a:solidFill>
              </a:defRPr>
            </a:pPr>
            <a:r>
              <a:rPr sz="3300" b="1">
                <a:solidFill>
                  <a:srgbClr val="00666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864AC7-3E00-4C29-BABC-C6217125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667000"/>
            <a:ext cx="1485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Before landing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E70CB2-2BBF-43FB-8EA1-080BED29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81375"/>
            <a:ext cx="14859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Flight progress, weather, and delay outlook update while offline details stay usable.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7D685D-E750-429E-8870-9F653A7AF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790700"/>
            <a:ext cx="1866900" cy="32956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81B829-5A54-4820-A01B-DF56F7F9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523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00666F"/>
                </a:solidFill>
              </a:defRPr>
            </a:pPr>
            <a:r>
              <a:rPr sz="3300" b="1">
                <a:solidFill>
                  <a:srgbClr val="00666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7AF158-B2E6-4484-B77B-B3FFB115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667000"/>
            <a:ext cx="1485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At the airport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643C26-D112-404D-8718-D4178688E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381375"/>
            <a:ext cx="14859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The journey screen shows the active layover, gate, return plan, and urgent changes.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AA8C63-6062-47BE-A3EF-843E6F64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790700"/>
            <a:ext cx="1866900" cy="32956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3AA44F-F6ED-44FD-AF7C-F5F71403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000250"/>
            <a:ext cx="523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00666F"/>
                </a:solidFill>
              </a:defRPr>
            </a:pPr>
            <a:r>
              <a:rPr sz="3300" b="1">
                <a:solidFill>
                  <a:srgbClr val="00666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E94475-9F9A-4B10-8A6B-308A2448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667000"/>
            <a:ext cx="1485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Choose a plan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431DBF-FC8B-4817-92AA-BD4B4EEB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381375"/>
            <a:ext cx="14859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Compare rest, work, food, shops, airport facilities, nearby hotels, or city options.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56523F-7272-43B4-8541-7B8AF0792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790700"/>
            <a:ext cx="1866900" cy="32956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26BCD7-A9E6-4F0B-8E33-6C290D971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000250"/>
            <a:ext cx="523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00666F"/>
                </a:solidFill>
              </a:defRPr>
            </a:pPr>
            <a:r>
              <a:rPr sz="3300" b="1">
                <a:solidFill>
                  <a:srgbClr val="00666F"/>
                </a:solidFill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7E0A25-C5C8-430E-8007-CDB495ACA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0"/>
            <a:ext cx="1485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Get back on time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3A3BF0-FAFC-4A24-B4CA-FC1ECEC9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381375"/>
            <a:ext cx="14859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Map and AR guidance lead to the selected venue or directly back to the departure gate.</a:t>
            </a:r>
          </a:p>
        </p:txBody>
      </p:sp>
    </p:spTree>
    <p:extLst>
      <p:ext uri="{BB962C8B-B14F-4D97-AF65-F5344CB8AC3E}">
        <p14:creationId xmlns:p14="http://schemas.microsoft.com/office/powerpoint/2010/main" val="9889956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23B00F-7463-42D8-93DA-81773D40F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00666F"/>
                </a:solidFill>
              </a:defRPr>
            </a:pPr>
            <a:r>
              <a:rPr sz="1050" b="1">
                <a:solidFill>
                  <a:srgbClr val="00666F"/>
                </a:solidFill>
              </a:rPr>
              <a:t>AIRBORDER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85A809-45BC-40C4-AA08-3F0F6D4C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User flow: one itinerary, many grounded choices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B3090A-32DC-439D-BA5E-8CA51C8E8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solidFill>
              <a:srgbClr val="D7DC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A11A1A-EF12-487F-82EA-1EEB80208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18097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FAE4DA-920E-4453-91EA-1D51561C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62150"/>
            <a:ext cx="1504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Add trip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or scan ticket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6C5EAB-4EBC-458D-8823-A342AFEF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276475"/>
            <a:ext cx="952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0666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3F21A6-4F4F-4261-8DE2-6B6B90B35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90700"/>
            <a:ext cx="18097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B91DA6-266E-4837-8DBC-3EC92008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962150"/>
            <a:ext cx="1504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Complete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traveler profile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C842FA-F64C-4C0D-8523-37F6B7D3D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276475"/>
            <a:ext cx="952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0666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F29EF0-2D7E-43B8-8DE6-194A0F14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790700"/>
            <a:ext cx="18097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5FDF78-35E3-4E7C-97A7-511C0B527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962150"/>
            <a:ext cx="1504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Build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layover context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6FBAD0-3ADB-4024-A05E-F941816B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276475"/>
            <a:ext cx="952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0666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CCEAA7-B671-487A-B295-F674BE926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790700"/>
            <a:ext cx="18097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52482E-8BB5-40EE-B4C1-15DCCC75A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962150"/>
            <a:ext cx="1504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Pick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venue or city plan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EBFFA8-5B0C-4682-9EAD-82A4D44E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76475"/>
            <a:ext cx="952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0666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AA101A-3984-4B0B-A9A5-4E96F2CF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90700"/>
            <a:ext cx="18097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52A080-BF3F-40F4-8CF8-B62D49BCE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62150"/>
            <a:ext cx="1504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Navigate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and receive alerts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0694BB-1A38-453F-9D2D-A97FF8DE5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43300"/>
            <a:ext cx="99822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A56D7A-38A5-4FF2-92C9-B473A17C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981450"/>
            <a:ext cx="9296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0">
                <a:solidFill>
                  <a:srgbClr val="111827"/>
                </a:solidFill>
              </a:defRPr>
            </a:pPr>
            <a:r>
              <a:rPr sz="2100" b="0">
                <a:solidFill>
                  <a:srgbClr val="111827"/>
                </a:solidFill>
              </a:rPr>
              <a:t>The flow stays passenger-facing: “You may need to recheck bags,” “Show route,” “Refresh weather,” and “Return to gate” replace developer language such as thresholds, provenance internals, and route penalty names.</a:t>
            </a:r>
          </a:p>
        </p:txBody>
      </p:sp>
    </p:spTree>
    <p:extLst>
      <p:ext uri="{BB962C8B-B14F-4D97-AF65-F5344CB8AC3E}">
        <p14:creationId xmlns:p14="http://schemas.microsoft.com/office/powerpoint/2010/main" val="11862542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F273C0-A9E9-497A-9DFE-9DE4967F5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00666F"/>
                </a:solidFill>
              </a:defRPr>
            </a:pPr>
            <a:r>
              <a:rPr sz="1050" b="1">
                <a:solidFill>
                  <a:srgbClr val="00666F"/>
                </a:solidFill>
              </a:rPr>
              <a:t>AIRBORDER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C040C1-65F4-4227-8DDD-A9902326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Implemented interface: the journey starts with the safest 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EEDED3-CD2A-4A54-B99F-8D161082B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solidFill>
              <a:srgbClr val="D7DC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04BECF-565E-42BB-A4CB-6CAB88903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3238500" cy="4714875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eb747fc536473c"/>
          <a:stretch xmlns:a="http://schemas.openxmlformats.org/drawingml/2006/main"/>
        </p:blipFill>
        <p:spPr>
          <a:xfrm xmlns:a="http://schemas.openxmlformats.org/drawingml/2006/main">
            <a:off x="1245497" y="1695450"/>
            <a:ext cx="2081005" cy="4524375"/>
          </a:xfrm>
          <a:prstGeom xmlns:a="http://schemas.openxmlformats.org/drawingml/2006/main" prst="roundRect">
            <a:avLst>
              <a:gd name="adj" fmla="val 375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3062E6-DBBB-4E87-B852-A3E9F7FE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38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99F374-542E-401A-A819-8DC9EAC2A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1952625"/>
            <a:ext cx="60674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11827"/>
                </a:solidFill>
              </a:defRPr>
            </a:pPr>
            <a:r>
              <a:rPr sz="2025" b="0">
                <a:solidFill>
                  <a:srgbClr val="111827"/>
                </a:solidFill>
              </a:rPr>
              <a:t>A day-of-travel summary shows route, airport, gate, layover, weather, and return status.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9086EF-DBFD-47DB-9AAE-302ED0933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914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CF1A67-8244-467F-99F3-A2C53CB12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828925"/>
            <a:ext cx="60674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11827"/>
                </a:solidFill>
              </a:defRPr>
            </a:pPr>
            <a:r>
              <a:rPr sz="2025" b="0">
                <a:solidFill>
                  <a:srgbClr val="111827"/>
                </a:solidFill>
              </a:rPr>
              <a:t>The “Return to gate” action is always available because getting back to boarding is the dominant travel goal.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D9A001-4354-427D-AD79-778572B6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790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65D1DB-CEAA-4E85-8E7D-85CADC21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705225"/>
            <a:ext cx="60674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11827"/>
                </a:solidFill>
              </a:defRPr>
            </a:pPr>
            <a:r>
              <a:rPr sz="2025" b="0">
                <a:solidFill>
                  <a:srgbClr val="111827"/>
                </a:solidFill>
              </a:rPr>
              <a:t>Bottom navigation mirrors familiar airline-app patterns: trip, flights, guide/map, and more options.</a:t>
            </a:r>
          </a:p>
        </p:txBody>
      </p:sp>
    </p:spTree>
    <p:extLst>
      <p:ext uri="{BB962C8B-B14F-4D97-AF65-F5344CB8AC3E}">
        <p14:creationId xmlns:p14="http://schemas.microsoft.com/office/powerpoint/2010/main" val="20860840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73EEDA-FBF4-4925-B1FF-98DD285A4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00666F"/>
                </a:solidFill>
              </a:defRPr>
            </a:pPr>
            <a:r>
              <a:rPr sz="1050" b="1">
                <a:solidFill>
                  <a:srgbClr val="00666F"/>
                </a:solidFill>
              </a:rPr>
              <a:t>AIRBORDER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513C04-4437-497E-A92B-2B96E11C1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Demo mode walks through the system without manual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5EB17C-6508-4055-9199-ED0A1D65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solidFill>
              <a:srgbClr val="D7DC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E7F3ED-D75D-4670-8535-E0D2D021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81150"/>
            <a:ext cx="3333750" cy="48006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f2cbce151544ae"/>
          <a:stretch xmlns:a="http://schemas.openxmlformats.org/drawingml/2006/main"/>
        </p:blipFill>
        <p:spPr>
          <a:xfrm xmlns:a="http://schemas.openxmlformats.org/drawingml/2006/main">
            <a:off x="1254357" y="1676400"/>
            <a:ext cx="2120435" cy="461010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62C10F-4CC5-4634-9C0B-68FF2449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809750"/>
            <a:ext cx="53340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45F7C9-8991-4BD1-BDEC-7D6FD7D59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8097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6F"/>
          </a:solidFill>
          <a:ln xmlns:a="http://schemas.openxmlformats.org/drawingml/2006/main" w="0">
            <a:solidFill>
              <a:srgbClr val="00666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B66176-8E99-444F-8644-C18B327B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81200"/>
            <a:ext cx="493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Terminal launch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74252C-C35D-4E9F-AF9D-1442B0D0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43150"/>
            <a:ext cx="4933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./Scripts/run-simulator.sh walkthrough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9CEAB6-8591-45C6-9BE1-4E8F4C882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81350"/>
            <a:ext cx="53340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25EAB9-2543-4A5D-A407-ED0721A79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813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5924C0-8A50-46F9-9851-7DF3CBB6B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52800"/>
            <a:ext cx="493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What it shows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A910CD-7EAF-4648-8933-990E06FD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14750"/>
            <a:ext cx="4933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Journey overview, passenger details, weather, layover choices, map guidance, AR preview, and return-to-gate behavior.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ED6D42-46DF-4BD1-997A-99E1BB05F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800600"/>
            <a:ext cx="53340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C5047E-7EEA-4DCE-9D09-E575A8A3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80060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7EC345-F1FB-4ED5-9F56-63869730C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972050"/>
            <a:ext cx="493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Why it helps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6AE610-08A0-4B12-BE7D-29016AAC8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334000"/>
            <a:ext cx="4933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A reviewer can see the full story even without live provider credentials or a physical-device AR setup.</a:t>
            </a:r>
          </a:p>
        </p:txBody>
      </p:sp>
    </p:spTree>
    <p:extLst>
      <p:ext uri="{BB962C8B-B14F-4D97-AF65-F5344CB8AC3E}">
        <p14:creationId xmlns:p14="http://schemas.microsoft.com/office/powerpoint/2010/main" val="1381049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04DBDB-A18C-4919-9017-EA41C312E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00666F"/>
                </a:solidFill>
              </a:defRPr>
            </a:pPr>
            <a:r>
              <a:rPr sz="1050" b="1">
                <a:solidFill>
                  <a:srgbClr val="00666F"/>
                </a:solidFill>
              </a:rPr>
              <a:t>AIRBORDER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9E4EB5-68D3-49AF-B32B-273070CE8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Wireframes organize the app around traveler jobs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53C111-5FAA-47CD-81AA-AE39FB7CE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solidFill>
              <a:srgbClr val="D7DC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517CBC-B465-4232-9CBA-22E59A07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71650"/>
            <a:ext cx="1752600" cy="34290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205B02-6363-411F-A26F-B79D10B2F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019300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0666F"/>
                </a:solidFill>
              </a:defRPr>
            </a:pPr>
            <a:r>
              <a:rPr sz="1800" b="1">
                <a:solidFill>
                  <a:srgbClr val="00666F"/>
                </a:solidFill>
              </a:rPr>
              <a:t>Journey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F7DEB4-6965-4E95-830D-D9660AC7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571750"/>
            <a:ext cx="1409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solidFill>
              <a:srgbClr val="D7DC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128BAF-9A7E-44B9-BF23-59F78894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857500"/>
            <a:ext cx="14097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Flight timeline</a:t>
            </a:r>
          </a:p>
          <a:p xmlns:a="http://schemas.openxmlformats.org/drawingml/2006/main">
            <a:pPr>
              <a:buNone/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Gate + boarding</a:t>
            </a:r>
          </a:p>
          <a:p xmlns:a="http://schemas.openxmlformats.org/drawingml/2006/main">
            <a:pPr>
              <a:buNone/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Return route</a:t>
            </a:r>
          </a:p>
          <a:p xmlns:a="http://schemas.openxmlformats.org/drawingml/2006/main">
            <a:pPr>
              <a:buNone/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Weather outlook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489E1E-8385-415F-9C3E-EB3FD8165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629150"/>
            <a:ext cx="12192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0666F"/>
          </a:solidFill>
          <a:ln xmlns:a="http://schemas.openxmlformats.org/drawingml/2006/main" w="9525">
            <a:solidFill>
              <a:srgbClr val="00666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CA1EB0-C389-4AB4-8D90-C2C75A0A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67677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Open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FB1B7F-CAD9-4F59-8873-E9E22961A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1771650"/>
            <a:ext cx="1752600" cy="34290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B3866C-EDB9-4C9C-920B-C418FDC92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019300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0666F"/>
                </a:solidFill>
              </a:defRPr>
            </a:pPr>
            <a:r>
              <a:rPr sz="1800" b="1">
                <a:solidFill>
                  <a:srgbClr val="00666F"/>
                </a:solidFill>
              </a:rPr>
              <a:t>Flights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5F84C7-CC0B-4B65-B7AB-4CE21509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571750"/>
            <a:ext cx="1409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solidFill>
              <a:srgbClr val="D7DC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408117-2D36-448F-A131-BBBE6AA49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857500"/>
            <a:ext cx="14097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Add / scan ticket</a:t>
            </a:r>
          </a:p>
          <a:p xmlns:a="http://schemas.openxmlformats.org/drawingml/2006/main">
            <a:pPr>
              <a:buNone/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Book &amp; bags</a:t>
            </a:r>
          </a:p>
          <a:p xmlns:a="http://schemas.openxmlformats.org/drawingml/2006/main">
            <a:pPr>
              <a:buNone/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Connection steps</a:t>
            </a:r>
          </a:p>
          <a:p xmlns:a="http://schemas.openxmlformats.org/drawingml/2006/main">
            <a:pPr>
              <a:buNone/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Provider refresh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1FDDAA-652E-4976-8513-83C13F745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629150"/>
            <a:ext cx="12192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0666F"/>
          </a:solidFill>
          <a:ln xmlns:a="http://schemas.openxmlformats.org/drawingml/2006/main" w="9525">
            <a:solidFill>
              <a:srgbClr val="00666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EF21C0-8A74-438A-A1F2-744167DE8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67677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Open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16023A-6905-4C29-9148-06744340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1771650"/>
            <a:ext cx="1752600" cy="34290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991A09-B244-4A07-ABC8-FC9F649BD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019300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0666F"/>
                </a:solidFill>
              </a:defRPr>
            </a:pPr>
            <a:r>
              <a:rPr sz="1800" b="1">
                <a:solidFill>
                  <a:srgbClr val="00666F"/>
                </a:solidFill>
              </a:rPr>
              <a:t>Layover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D631ED-92C3-4289-A192-0DBFB908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571750"/>
            <a:ext cx="1409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solidFill>
              <a:srgbClr val="D7DC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761993-04BF-4B1E-87CA-CD26E1193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857500"/>
            <a:ext cx="14097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Airport services</a:t>
            </a:r>
          </a:p>
          <a:p xmlns:a="http://schemas.openxmlformats.org/drawingml/2006/main">
            <a:pPr>
              <a:buNone/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Nearby hotels</a:t>
            </a:r>
          </a:p>
          <a:p xmlns:a="http://schemas.openxmlformats.org/drawingml/2006/main">
            <a:pPr>
              <a:buNone/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Food + shops</a:t>
            </a:r>
          </a:p>
          <a:p xmlns:a="http://schemas.openxmlformats.org/drawingml/2006/main">
            <a:pPr>
              <a:buNone/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City visit options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620A6A-A250-44BB-AECA-CF91548B6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4629150"/>
            <a:ext cx="12192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0666F"/>
          </a:solidFill>
          <a:ln xmlns:a="http://schemas.openxmlformats.org/drawingml/2006/main" w="9525">
            <a:solidFill>
              <a:srgbClr val="00666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6D0DD2-A987-46F6-8BBC-9F73D3DBE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467677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Open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5E2B7A-93CB-46B5-96EF-F83AF916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1771650"/>
            <a:ext cx="1752600" cy="34290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6A2BB5-EFB4-4B70-942D-CA237776D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019300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0666F"/>
                </a:solidFill>
              </a:defRPr>
            </a:pPr>
            <a:r>
              <a:rPr sz="1800" b="1">
                <a:solidFill>
                  <a:srgbClr val="00666F"/>
                </a:solidFill>
              </a:rPr>
              <a:t>Map / AR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9CF2E2-E903-49B4-9B22-4F0F6212D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571750"/>
            <a:ext cx="1409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solidFill>
              <a:srgbClr val="D7DCE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1EF666-B4BB-4147-BF89-9F6FF546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857500"/>
            <a:ext cx="14097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Venue route</a:t>
            </a:r>
          </a:p>
          <a:p xmlns:a="http://schemas.openxmlformats.org/drawingml/2006/main">
            <a:pPr>
              <a:buNone/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Indoor steps</a:t>
            </a:r>
          </a:p>
          <a:p xmlns:a="http://schemas.openxmlformats.org/drawingml/2006/main">
            <a:pPr>
              <a:buNone/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Direction arrows</a:t>
            </a:r>
          </a:p>
          <a:p xmlns:a="http://schemas.openxmlformats.org/drawingml/2006/main">
            <a:pPr>
              <a:buNone/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Back-to-gate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6DDB2E-E383-4306-8F70-5FA217D7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4629150"/>
            <a:ext cx="12192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0666F"/>
          </a:solidFill>
          <a:ln xmlns:a="http://schemas.openxmlformats.org/drawingml/2006/main" w="9525">
            <a:solidFill>
              <a:srgbClr val="00666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0D6F21-05F0-4E37-98A2-628357A51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67677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Open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76A6CB-102B-4E86-BA01-95ACE330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1771650"/>
            <a:ext cx="1752600" cy="34290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F8C282-B022-45F0-8C61-D22D69C49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019300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0666F"/>
                </a:solidFill>
              </a:defRPr>
            </a:pPr>
            <a:r>
              <a:rPr sz="1800" b="1">
                <a:solidFill>
                  <a:srgbClr val="00666F"/>
                </a:solidFill>
              </a:rPr>
              <a:t>Profile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05E51D-C1FF-4004-807D-C46621A1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571750"/>
            <a:ext cx="1409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solidFill>
              <a:srgbClr val="D7DCE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F278E4-9613-4EF7-9E68-5301550E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857500"/>
            <a:ext cx="14097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Nationality text</a:t>
            </a:r>
          </a:p>
          <a:p xmlns:a="http://schemas.openxmlformats.org/drawingml/2006/main">
            <a:pPr>
              <a:buNone/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Documents</a:t>
            </a:r>
          </a:p>
          <a:p xmlns:a="http://schemas.openxmlformats.org/drawingml/2006/main">
            <a:pPr>
              <a:buNone/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Budget</a:t>
            </a:r>
          </a:p>
          <a:p xmlns:a="http://schemas.openxmlformats.org/drawingml/2006/main">
            <a:pPr>
              <a:buNone/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Accessibility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C88217-DFD9-4952-BF58-6726F1C9A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629150"/>
            <a:ext cx="12192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0666F"/>
          </a:solidFill>
          <a:ln xmlns:a="http://schemas.openxmlformats.org/drawingml/2006/main" w="9525">
            <a:solidFill>
              <a:srgbClr val="00666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C1E706-4EB4-499F-9F17-E23201FA7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67677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Open</a:t>
            </a:r>
          </a:p>
        </p:txBody>
      </p:sp>
    </p:spTree>
    <p:extLst>
      <p:ext uri="{BB962C8B-B14F-4D97-AF65-F5344CB8AC3E}">
        <p14:creationId xmlns:p14="http://schemas.microsoft.com/office/powerpoint/2010/main" val="20237826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DDCA7E-27C1-4756-9EBD-42AB76D1D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00666F"/>
                </a:solidFill>
              </a:defRPr>
            </a:pPr>
            <a:r>
              <a:rPr sz="1050" b="1">
                <a:solidFill>
                  <a:srgbClr val="00666F"/>
                </a:solidFill>
              </a:rPr>
              <a:t>AIRBORDER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C5BE7D-3800-4039-B0E0-4FDBCEFF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Design choices follow airline-app conventions and usability principles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984790-13FD-4983-9A14-617D92BD8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solidFill>
              <a:srgbClr val="D7DC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F86E6B-12BA-44AD-B0F9-DB649F05C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3333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2684CF-B91C-4FD5-BBAD-F3885A2B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6F"/>
          </a:solidFill>
          <a:ln xmlns:a="http://schemas.openxmlformats.org/drawingml/2006/main" w="0">
            <a:solidFill>
              <a:srgbClr val="00666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717CC3-633C-4041-9DB2-C3999052F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05000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Day-of-travel hierarchy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05AC7A-1A03-4F0D-B9BF-0DC671C2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29337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Delta, American, and Singapore Airlines all foreground trip status, boarding passes, gate changes, and alerts. AirBorder makes the active layover the home screen.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160980-22B7-4B4B-828D-81F87815F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33550"/>
            <a:ext cx="3333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64ABEE-32F5-4B6F-92A7-2B1E0E51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3355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EDBE20-F1D4-4EB3-8627-6650F206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905000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Visible system status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8FE969-5475-4F2A-82B2-17087FEF0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266950"/>
            <a:ext cx="29337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The interface explains current gate, route state, weather, and refresh state in user language so passengers know what changed.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4BF366-4E9D-4E80-B49F-504B1ABBB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33550"/>
            <a:ext cx="3333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77B45F-71FE-41A8-9AEE-6E7E36635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3355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0">
            <a:solidFill>
              <a:srgbClr val="C0392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F19C45-5FAE-4A8B-A646-105A36350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05000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Clear exit path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4F6A8A-8AB3-4DD9-BF4F-AAEFAA57B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66950"/>
            <a:ext cx="29337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A persistent return-to-gate action acts like an emergency exit: it gets the user back to the main travel objective from any screen.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EB7266-AF38-44B0-BFA3-30733CECC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Sources: Delta mobile app, American Airlines app, SingaporeAir app, Nielsen Norman Group usability heuristics.</a:t>
            </a:r>
          </a:p>
        </p:txBody>
      </p:sp>
    </p:spTree>
    <p:extLst>
      <p:ext uri="{BB962C8B-B14F-4D97-AF65-F5344CB8AC3E}">
        <p14:creationId xmlns:p14="http://schemas.microsoft.com/office/powerpoint/2010/main" val="16671800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F968FA-220F-4EC6-8DE3-C1486DEA3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00666F"/>
                </a:solidFill>
              </a:defRPr>
            </a:pPr>
            <a:r>
              <a:rPr sz="1050" b="1">
                <a:solidFill>
                  <a:srgbClr val="00666F"/>
                </a:solidFill>
              </a:rPr>
              <a:t>AIRBORDER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5617B0-BED0-4B9B-9CDC-CA9BCADB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Architecture separates live facts, cached facts, and personal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C8A5A9-5062-4B4D-9687-A7977EA65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solidFill>
              <a:srgbClr val="D7DC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9A99F5-0846-4167-9985-DA336A86B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2381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C3559A-E5A1-49A9-BA68-9B4258867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6F"/>
          </a:solidFill>
          <a:ln xmlns:a="http://schemas.openxmlformats.org/drawingml/2006/main" w="0">
            <a:solidFill>
              <a:srgbClr val="00666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4D2650-CC5D-4F98-8C39-C58EFB4D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2150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Itinerary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0867D3-D83F-43A2-852A-5EAA9918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1981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Multi-leg flights, airport changes, gates, and layovers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47986D-6831-45FB-8D66-5F7FB294A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790700"/>
            <a:ext cx="2381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EC1C78-6516-49CB-8579-2BD257271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7907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309CD6-78D9-4B69-AAF6-B37B30EAF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962150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Traveler profile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0824DA-420D-4ECC-AA80-ACF550C8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324100"/>
            <a:ext cx="1981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Nationality, documents, budget, fatigue, accessibility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ADB6E0-6858-418A-A0F4-D33D577B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790700"/>
            <a:ext cx="2381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E56B22-DA19-409E-9BC5-BBD66354D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7907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B37408-0119-4B40-B102-8230E66AA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62150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Provider proxy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356EF1-0317-457A-BAD5-BEC4E303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24100"/>
            <a:ext cx="1981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Flights, hotels, places, facilities, weather, entry links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399D7A-3902-4F8C-A756-E7B035B1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90700"/>
            <a:ext cx="2381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2B09EB-D5F6-4531-8962-13171D9DF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907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FD2FE4-A985-4FE7-85A8-BD270275A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962150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On-device cache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11109D-FDE4-40E0-B764-54B8526A9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324100"/>
            <a:ext cx="1981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Freshness rules, replay, private personalization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FF527D-F5C8-43DC-9002-85B09C21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76700"/>
            <a:ext cx="1714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EF5D88-9BAA-4281-BEBD-5809C9B7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248150"/>
            <a:ext cx="140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Build context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A65773-464D-4873-8DE8-5675E94D3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486275"/>
            <a:ext cx="2857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0666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900AC6-7B55-42BC-A547-E9737D5E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076700"/>
            <a:ext cx="1714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A54483-C7A8-4579-8429-A750192A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48150"/>
            <a:ext cx="140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Compare plans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D1E125-2D61-4138-BE16-4D05DB64D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486275"/>
            <a:ext cx="2857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0666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8B5CDF-7B25-4879-8F89-048D70B9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76700"/>
            <a:ext cx="1714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1E24E8-0EA5-41A5-BA7D-D6AFE96B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48150"/>
            <a:ext cx="140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Route user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28A712-841E-415D-99A1-002EB83DF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86275"/>
            <a:ext cx="2857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0666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EB5352-34B4-46B8-906B-7E97165A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076700"/>
            <a:ext cx="1714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4233DC-25BE-45AD-B3CB-2B939A85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48150"/>
            <a:ext cx="140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Notify changes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24A8BF-5FE7-412B-9E1D-28B9B501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1020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Provider keys stay on the backend/proxy. The app receives normalized facts and only uses private on-device learning for personal walking, queue, route, and preference patterns.</a:t>
            </a:r>
          </a:p>
        </p:txBody>
      </p:sp>
    </p:spTree>
    <p:extLst>
      <p:ext uri="{BB962C8B-B14F-4D97-AF65-F5344CB8AC3E}">
        <p14:creationId xmlns:p14="http://schemas.microsoft.com/office/powerpoint/2010/main" val="41874893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DB5471-BD1D-47D1-923E-58B7A6681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00666F"/>
                </a:solidFill>
              </a:defRPr>
            </a:pPr>
            <a:r>
              <a:rPr sz="1050" b="1">
                <a:solidFill>
                  <a:srgbClr val="00666F"/>
                </a:solidFill>
              </a:rPr>
              <a:t>AIRBORDER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5184D2-F76F-42DE-BE29-CBFDEFAC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Demo and validation are ready for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6B6B94-B688-42EB-A490-5E6FFD83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solidFill>
              <a:srgbClr val="D7DC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2B81BA-9547-4A27-A420-DD63B57C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3095625" cy="4552950"/>
          </a:xfrm>
          <a:prstGeom xmlns:a="http://schemas.openxmlformats.org/drawingml/2006/main" prst="roundRect">
            <a:avLst>
              <a:gd name="adj" fmla="val 369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c31244e3e648c8"/>
          <a:stretch xmlns:a="http://schemas.openxmlformats.org/drawingml/2006/main"/>
        </p:blipFill>
        <p:spPr>
          <a:xfrm xmlns:a="http://schemas.openxmlformats.org/drawingml/2006/main">
            <a:off x="1211299" y="1752600"/>
            <a:ext cx="2006527" cy="4362450"/>
          </a:xfrm>
          <a:prstGeom xmlns:a="http://schemas.openxmlformats.org/drawingml/2006/main" prst="roundRect">
            <a:avLst>
              <a:gd name="adj" fmla="val 3934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F23AB7-A75A-45FB-BEC0-46B7FC98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90700"/>
            <a:ext cx="5905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2B746F-6ECA-4927-92B7-597B5A7FE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907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6F"/>
          </a:solidFill>
          <a:ln xmlns:a="http://schemas.openxmlformats.org/drawingml/2006/main" w="0">
            <a:solidFill>
              <a:srgbClr val="00666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053F64-3228-45EB-B188-4017E03C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962150"/>
            <a:ext cx="550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Launch commands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F090D7-1DE3-47B6-AE06-D71A3FF8D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24100"/>
            <a:ext cx="5505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demo · walkthrough · ar-preview · weather · city-map · signal-location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189B70-FDEF-4A6E-8E33-01691FB05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00400"/>
            <a:ext cx="5905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3D6DE1-EECE-42C0-89E2-4E4E4A4F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004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F51448-53C0-44EB-AB2F-41DDAAEF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71850"/>
            <a:ext cx="550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Automated checks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6748C9-6F62-4CE1-BE3F-76E4780B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33800"/>
            <a:ext cx="5505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Flight operational intelligence: 23 tests, 0 failures. Journey UI smoke test: passed after the launch fix.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D09846-C099-4428-9775-26AD1521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10100"/>
            <a:ext cx="5905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EB7E09-BCA0-41DC-A3BF-101A7724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101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1100ED-6961-45B6-AB37-058E3DFD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781550"/>
            <a:ext cx="550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Next build priorities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D1CD10-1D9F-4210-9E2C-F899E540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143500"/>
            <a:ext cx="5505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Live provider credentials, real indoor airport map partnerships, physical-device AR testing, and two-device calendar/reminder verification.</a:t>
            </a:r>
          </a:p>
        </p:txBody>
      </p:sp>
    </p:spTree>
    <p:extLst>
      <p:ext uri="{BB962C8B-B14F-4D97-AF65-F5344CB8AC3E}">
        <p14:creationId xmlns:p14="http://schemas.microsoft.com/office/powerpoint/2010/main" val="35302242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FAA43D-54E0-4DF7-AECF-961A4B59E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66800"/>
            <a:ext cx="9525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350" b="1">
                <a:solidFill>
                  <a:srgbClr val="111827"/>
                </a:solidFill>
              </a:defRPr>
            </a:pPr>
            <a:r>
              <a:rPr sz="4350" b="1">
                <a:solidFill>
                  <a:srgbClr val="111827"/>
                </a:solidFill>
              </a:rPr>
              <a:t>AirBorder turns a stressful layover into a clear travel plan.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B844D4-6757-4527-874B-5D37A6C00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52750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5B6472"/>
                </a:solidFill>
              </a:defRPr>
            </a:pPr>
            <a:r>
              <a:rPr sz="1950" b="0">
                <a:solidFill>
                  <a:srgbClr val="5B6472"/>
                </a:solidFill>
              </a:rPr>
              <a:t>The system combines itinerary context, airport services, maps, baggage/entry guidance, weather, cost, and alerts into one passenger-facing experience.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305756-EA15-4DFF-8792-72CEBA0E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33875"/>
            <a:ext cx="685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6F"/>
          </a:solidFill>
          <a:ln xmlns:a="http://schemas.openxmlformats.org/drawingml/2006/main" w="0">
            <a:solidFill>
              <a:srgbClr val="00666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A43DF6-6306-4AC7-B105-4C8874EA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2440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0666F"/>
                </a:solidFill>
              </a:defRPr>
            </a:pPr>
            <a:r>
              <a:rPr sz="2100" b="1">
                <a:solidFill>
                  <a:srgbClr val="00666F"/>
                </a:solidFill>
              </a:rPr>
              <a:t>Demo: ./Scripts/run-simulator.sh walkthrough</a:t>
            </a:r>
          </a:p>
        </p:txBody>
      </p:sp>
    </p:spTree>
    <p:extLst>
      <p:ext uri="{BB962C8B-B14F-4D97-AF65-F5344CB8AC3E}">
        <p14:creationId xmlns:p14="http://schemas.microsoft.com/office/powerpoint/2010/main" val="12205290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2026-07-21T12:15:09.4080000Z</dcterms:created>
  <dcterms:modified xsi:type="dcterms:W3CDTF">2026-07-21T12:15:09.4080000Z</dcterms:modified>
</coreProperties>
</file>