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7bf4b09cbb43ac" /><Relationship Type="http://schemas.openxmlformats.org/officeDocument/2006/relationships/extended-properties" Target="/docProps/app.xml" Id="Rab02824443f441a6" /><Relationship Type="http://schemas.openxmlformats.org/officeDocument/2006/relationships/officeDocument" Target="/ppt/presentation.xml" Id="R42d79c4cb8cc4b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e0d148f25d4734"/>
  </p:sldMasterIdLst>
  <p:notesMasterIdLst>
    <p:notesMasterId xmlns:r="http://schemas.openxmlformats.org/officeDocument/2006/relationships" r:id="R9cc12c2fcb064d76"/>
  </p:notesMasterIdLst>
  <p:sldIdLst>
    <p:sldId xmlns:r="http://schemas.openxmlformats.org/officeDocument/2006/relationships" id="256" r:id="R24631cdb8ce645b3"/>
    <p:sldId xmlns:r="http://schemas.openxmlformats.org/officeDocument/2006/relationships" id="257" r:id="R6043038be91b4710"/>
    <p:sldId xmlns:r="http://schemas.openxmlformats.org/officeDocument/2006/relationships" id="258" r:id="Raad3e8649752469a"/>
    <p:sldId xmlns:r="http://schemas.openxmlformats.org/officeDocument/2006/relationships" id="259" r:id="Rcc7ffa9b564542c6"/>
    <p:sldId xmlns:r="http://schemas.openxmlformats.org/officeDocument/2006/relationships" id="260" r:id="Rf94ce761140a4f81"/>
    <p:sldId xmlns:r="http://schemas.openxmlformats.org/officeDocument/2006/relationships" id="261" r:id="R792d478af6664320"/>
    <p:sldId xmlns:r="http://schemas.openxmlformats.org/officeDocument/2006/relationships" id="262" r:id="Re6c7ea954483498b"/>
    <p:sldId xmlns:r="http://schemas.openxmlformats.org/officeDocument/2006/relationships" id="263" r:id="Rb0e47a1a9ad44127"/>
    <p:sldId xmlns:r="http://schemas.openxmlformats.org/officeDocument/2006/relationships" id="264" r:id="R5287548243df4c91"/>
    <p:sldId xmlns:r="http://schemas.openxmlformats.org/officeDocument/2006/relationships" id="265" r:id="R6b2e9b6d24de4165"/>
    <p:sldId xmlns:r="http://schemas.openxmlformats.org/officeDocument/2006/relationships" id="266" r:id="R1147c56c81f64b34"/>
    <p:sldId xmlns:r="http://schemas.openxmlformats.org/officeDocument/2006/relationships" id="267" r:id="Ra421b4b81b7c44fa"/>
    <p:sldId xmlns:r="http://schemas.openxmlformats.org/officeDocument/2006/relationships" id="268" r:id="R91eac9cf350e41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e17ed3f9b341d1" /><Relationship Type="http://schemas.openxmlformats.org/officeDocument/2006/relationships/slideMaster" Target="/ppt/slideMasters/slideMaster1.xml" Id="R24e0d148f25d4734" /><Relationship Type="http://schemas.openxmlformats.org/officeDocument/2006/relationships/notesMaster" Target="/ppt/notesMasters/notesMaster1.xml" Id="R9cc12c2fcb064d76" /><Relationship Type="http://schemas.openxmlformats.org/officeDocument/2006/relationships/presProps" Target="/ppt/presProps.xml" Id="Rbe73d686ce694a52" /><Relationship Type="http://schemas.openxmlformats.org/officeDocument/2006/relationships/tableStyles" Target="/ppt/tableStyles.xml" Id="R27dda8a57b5a49c2" /><Relationship Type="http://schemas.openxmlformats.org/officeDocument/2006/relationships/slide" Target="/ppt/slides/slide1.xml" Id="R24631cdb8ce645b3" /><Relationship Type="http://schemas.openxmlformats.org/officeDocument/2006/relationships/slide" Target="/ppt/slides/slide2.xml" Id="R6043038be91b4710" /><Relationship Type="http://schemas.openxmlformats.org/officeDocument/2006/relationships/slide" Target="/ppt/slides/slide3.xml" Id="Raad3e8649752469a" /><Relationship Type="http://schemas.openxmlformats.org/officeDocument/2006/relationships/slide" Target="/ppt/slides/slide4.xml" Id="Rcc7ffa9b564542c6" /><Relationship Type="http://schemas.openxmlformats.org/officeDocument/2006/relationships/slide" Target="/ppt/slides/slide5.xml" Id="Rf94ce761140a4f81" /><Relationship Type="http://schemas.openxmlformats.org/officeDocument/2006/relationships/slide" Target="/ppt/slides/slide6.xml" Id="R792d478af6664320" /><Relationship Type="http://schemas.openxmlformats.org/officeDocument/2006/relationships/slide" Target="/ppt/slides/slide7.xml" Id="Re6c7ea954483498b" /><Relationship Type="http://schemas.openxmlformats.org/officeDocument/2006/relationships/slide" Target="/ppt/slides/slide8.xml" Id="Rb0e47a1a9ad44127" /><Relationship Type="http://schemas.openxmlformats.org/officeDocument/2006/relationships/slide" Target="/ppt/slides/slide9.xml" Id="R5287548243df4c91" /><Relationship Type="http://schemas.openxmlformats.org/officeDocument/2006/relationships/slide" Target="/ppt/slides/slide10.xml" Id="R6b2e9b6d24de4165" /><Relationship Type="http://schemas.openxmlformats.org/officeDocument/2006/relationships/slide" Target="/ppt/slides/slide11.xml" Id="R1147c56c81f64b34" /><Relationship Type="http://schemas.openxmlformats.org/officeDocument/2006/relationships/slide" Target="/ppt/slides/slide12.xml" Id="Ra421b4b81b7c44fa" /><Relationship Type="http://schemas.openxmlformats.org/officeDocument/2006/relationships/slide" Target="/ppt/slides/slide13.xml" Id="R91eac9cf350e41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0cd495256b48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9d34c95c92413c" /><Relationship Type="http://schemas.openxmlformats.org/officeDocument/2006/relationships/notesMaster" Target="/ppt/notesMasters/notesMaster1.xml" Id="Rcacf07347bad49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6997ddacd7473e" /><Relationship Type="http://schemas.openxmlformats.org/officeDocument/2006/relationships/notesMaster" Target="/ppt/notesMasters/notesMaster1.xml" Id="R06575492202a45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c50ae704cb4d37" /><Relationship Type="http://schemas.openxmlformats.org/officeDocument/2006/relationships/notesMaster" Target="/ppt/notesMasters/notesMaster1.xml" Id="R58e6e25352774e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9c09752a9a4527" /><Relationship Type="http://schemas.openxmlformats.org/officeDocument/2006/relationships/notesMaster" Target="/ppt/notesMasters/notesMaster1.xml" Id="R0b3fdf2aabb142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cfcab9f9734880" /><Relationship Type="http://schemas.openxmlformats.org/officeDocument/2006/relationships/notesMaster" Target="/ppt/notesMasters/notesMaster1.xml" Id="R257bb89497fc4c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eb66223b3d4752" /><Relationship Type="http://schemas.openxmlformats.org/officeDocument/2006/relationships/notesMaster" Target="/ppt/notesMasters/notesMaster1.xml" Id="Ra401f2d27dde42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8677723498428b" /><Relationship Type="http://schemas.openxmlformats.org/officeDocument/2006/relationships/notesMaster" Target="/ppt/notesMasters/notesMaster1.xml" Id="R15f54594f8be40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e405a84108499a" /><Relationship Type="http://schemas.openxmlformats.org/officeDocument/2006/relationships/notesMaster" Target="/ppt/notesMasters/notesMaster1.xml" Id="R864c7bd27f0c4f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3d8b406c3745d6" /><Relationship Type="http://schemas.openxmlformats.org/officeDocument/2006/relationships/notesMaster" Target="/ppt/notesMasters/notesMaster1.xml" Id="R8e026b3a469741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6292ace4354ed3" /><Relationship Type="http://schemas.openxmlformats.org/officeDocument/2006/relationships/notesMaster" Target="/ppt/notesMasters/notesMaster1.xml" Id="R189105ab60614b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0a4f0032e84cbc" /><Relationship Type="http://schemas.openxmlformats.org/officeDocument/2006/relationships/notesMaster" Target="/ppt/notesMasters/notesMaster1.xml" Id="R1e707240e5704a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14e62df9c54c9e" /><Relationship Type="http://schemas.openxmlformats.org/officeDocument/2006/relationships/notesMaster" Target="/ppt/notesMasters/notesMaster1.xml" Id="Rd4e998f710d14c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78156d0de942a3" /><Relationship Type="http://schemas.openxmlformats.org/officeDocument/2006/relationships/notesMaster" Target="/ppt/notesMasters/notesMaster1.xml" Id="R78de0cc776654c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0d4a99c29848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ef47d455684d91" /><Relationship Type="http://schemas.openxmlformats.org/officeDocument/2006/relationships/slideLayout" Target="/ppt/slideLayouts/slideLayout1.xml" Id="R8ea35bb693b943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a35bb693b943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0ba40e5604f54" /><Relationship Type="http://schemas.openxmlformats.org/officeDocument/2006/relationships/notesSlide" Target="/ppt/notesSlides/notesSlide1.xml" Id="R2efe75aca51e41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88a765e3b4ab4" /><Relationship Type="http://schemas.openxmlformats.org/officeDocument/2006/relationships/notesSlide" Target="/ppt/notesSlides/notesSlide2.xml" Id="R91f7db1971ee48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d4a8ba85a400a" /><Relationship Type="http://schemas.openxmlformats.org/officeDocument/2006/relationships/notesSlide" Target="/ppt/notesSlides/notesSlide3.xml" Id="Re8be209b5de842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e8828634947a9" /><Relationship Type="http://schemas.openxmlformats.org/officeDocument/2006/relationships/notesSlide" Target="/ppt/notesSlides/notesSlide4.xml" Id="Rf614832993cf4b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4051374f44630" /><Relationship Type="http://schemas.openxmlformats.org/officeDocument/2006/relationships/notesSlide" Target="/ppt/notesSlides/notesSlide5.xml" Id="R5b80bb9a9ad948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32af933ec4492" /><Relationship Type="http://schemas.openxmlformats.org/officeDocument/2006/relationships/notesSlide" Target="/ppt/notesSlides/notesSlide6.xml" Id="R3e89c4b365af47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3d8d687544dea" /><Relationship Type="http://schemas.openxmlformats.org/officeDocument/2006/relationships/image" Target="/ppt/media/image.png" Id="R78b6e50f441c4b58" /><Relationship Type="http://schemas.openxmlformats.org/officeDocument/2006/relationships/notesSlide" Target="/ppt/notesSlides/notesSlide7.xml" Id="R16cda41004a949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493b100ae45bd" /><Relationship Type="http://schemas.openxmlformats.org/officeDocument/2006/relationships/image" Target="/ppt/media/image2.png" Id="R12978ad7f7174ce3" /><Relationship Type="http://schemas.openxmlformats.org/officeDocument/2006/relationships/notesSlide" Target="/ppt/notesSlides/notesSlide8.xml" Id="Rfbd6b76cadd145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c595653e9478b" /><Relationship Type="http://schemas.openxmlformats.org/officeDocument/2006/relationships/notesSlide" Target="/ppt/notesSlides/notesSlide9.xml" Id="Ra98bfb2ab76841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c5b61913a4d90" /><Relationship Type="http://schemas.openxmlformats.org/officeDocument/2006/relationships/notesSlide" Target="/ppt/notesSlides/notesSlide10.xml" Id="Rf93a970f2d7746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8af40c6f54a59" /><Relationship Type="http://schemas.openxmlformats.org/officeDocument/2006/relationships/notesSlide" Target="/ppt/notesSlides/notesSlide11.xml" Id="R5eae2831c08145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1488326fb45d4" /><Relationship Type="http://schemas.openxmlformats.org/officeDocument/2006/relationships/image" Target="/ppt/media/image3.png" Id="R47f70677803748b9" /><Relationship Type="http://schemas.openxmlformats.org/officeDocument/2006/relationships/notesSlide" Target="/ppt/notesSlides/notesSlide12.xml" Id="R3d4d187f7a5846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e75e1b7124501" /><Relationship Type="http://schemas.openxmlformats.org/officeDocument/2006/relationships/notesSlide" Target="/ppt/notesSlides/notesSlide13.xml" Id="Rf437675cfe494f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C4C2F-E491-4051-AC4E-39E4A97E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00666F"/>
                </a:solidFill>
              </a:defRPr>
            </a:pPr>
            <a:r>
              <a:rPr sz="4050" b="1">
                <a:solidFill>
                  <a:srgbClr val="00666F"/>
                </a:solidFill>
              </a:rPr>
              <a:t>AirBorder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A96FE-5420-4A3B-930D-FE0BB7EB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096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</a:rPr>
              <a:t>Ticket-driven transfer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43897-83B6-4D2E-A493-04EE19F7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B6472"/>
                </a:solidFill>
              </a:defRPr>
            </a:pPr>
            <a:r>
              <a:rPr sz="1800" b="0">
                <a:solidFill>
                  <a:srgbClr val="5B6472"/>
                </a:solidFill>
              </a:rPr>
              <a:t>A passenger-facing mobile assistant that reads the itinerary, guides airport changes and baggage steps, and supports time-sensitive city or airport plans.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FBCBF-D50D-4809-A2F6-A4998A16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42950"/>
            <a:ext cx="2571750" cy="4953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299D1-5B78-4DD5-988D-B459D800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144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66F"/>
                </a:solidFill>
              </a:defRPr>
            </a:pPr>
            <a:r>
              <a:rPr sz="2025" b="1">
                <a:solidFill>
                  <a:srgbClr val="00666F"/>
                </a:solidFill>
              </a:rPr>
              <a:t>BKK → HND</a:t>
            </a:r>
          </a:p>
          <a:p xmlns:a="http://schemas.openxmlformats.org/drawingml/2006/main">
            <a:pPr>
              <a:buNone/>
              <a:defRPr sz="2025" b="1">
                <a:solidFill>
                  <a:srgbClr val="00666F"/>
                </a:solidFill>
              </a:defRPr>
            </a:pPr>
            <a:r>
              <a:rPr sz="2025" b="1">
                <a:solidFill>
                  <a:srgbClr val="00666F"/>
                </a:solidFill>
              </a:rPr>
              <a:t>→ NRT → LAX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FD0A9-2613-451D-86D6-8EFF9C95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431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Reference journey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3911A-2A75-4AB9-98C2-1909C0AB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47950"/>
            <a:ext cx="2000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Gate</a:t>
            </a:r>
          </a:p>
          <a:p xmlns:a="http://schemas.openxmlformats.org/drawingml/2006/main">
            <a:pPr>
              <a:buNone/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Weather</a:t>
            </a:r>
          </a:p>
          <a:p xmlns:a="http://schemas.openxmlformats.org/drawingml/2006/main">
            <a:pPr>
              <a:buNone/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Bags</a:t>
            </a:r>
          </a:p>
          <a:p xmlns:a="http://schemas.openxmlformats.org/drawingml/2006/main">
            <a:pPr>
              <a:buNone/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Entry</a:t>
            </a:r>
          </a:p>
          <a:p xmlns:a="http://schemas.openxmlformats.org/drawingml/2006/main">
            <a:pPr>
              <a:buNone/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Map</a:t>
            </a:r>
          </a:p>
          <a:p xmlns:a="http://schemas.openxmlformats.org/drawingml/2006/main">
            <a:pPr>
              <a:buNone/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Return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61B65-8E05-4063-AB49-ACCDBF3C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DD671-19CA-4294-8351-6278582D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Project presentation · July 2026</a:t>
            </a:r>
          </a:p>
        </p:txBody>
      </p:sp>
    </p:spTree>
    <p:extLst>
      <p:ext uri="{BB962C8B-B14F-4D97-AF65-F5344CB8AC3E}">
        <p14:creationId xmlns:p14="http://schemas.microsoft.com/office/powerpoint/2010/main" val="21140141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520EFE-6E85-4A98-9ADE-9B6E9E61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666F"/>
                </a:solidFill>
              </a:defRPr>
            </a:pPr>
            <a:r>
              <a:rPr sz="1050" b="1">
                <a:solidFill>
                  <a:srgbClr val="00666F"/>
                </a:solidFill>
              </a:rPr>
              <a:t>AIRBORDER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D29EB-AF69-4F9E-8009-4996E908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Long-haul transfers create too many moving parts for one screen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BB8FD-84F1-4088-87F3-AA0149A9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F6A72-0F48-4788-8E7B-088B1144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1827"/>
                </a:solidFill>
              </a:defRPr>
            </a:pPr>
            <a:r>
              <a:rPr sz="2025" b="0">
                <a:solidFill>
                  <a:srgbClr val="111827"/>
                </a:solidFill>
              </a:rPr>
              <a:t>AirBorder’s design goal is to turn scattered travel information into one simple sequence: understand the connection, choose what is feasible, and always know how to get back to the gate.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9C753-C809-4577-A52B-404B0588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AFA5C-7D49-442F-8901-2B8D3CB8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6F"/>
          </a:solidFill>
          <a:ln xmlns:a="http://schemas.openxmlformats.org/drawingml/2006/main" w="0">
            <a:solidFill>
              <a:srgbClr val="0066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BF0A6-231B-4F8F-B947-77C7453E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What passengers 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6B70B-0401-4F4C-8D7A-1FA8C8F0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29337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Do I have enough time? Are my bags transferred? Can I leave the airport? Where can I rest, work, eat, or buy something?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4232D-17E6-4BA6-B002-A2CB292D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C58EC-870B-4198-959A-0EF70D8A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770FC-8771-4770-A4E1-518CA262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2895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What changes live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A2CB8-2B35-4D7C-A513-FE5BD02B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390900"/>
            <a:ext cx="29337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Gate, delay outlook, boarding time, weather, ground transport, facility hours, and the passenger’s current location.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58403-3305-4750-90D2-859430F2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5750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D3935-7DC1-47DE-8DCF-854ED389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57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19F2AB-B911-4A34-AFDD-5602F0D1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What the UI must 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60D0A3-360D-49D4-B32B-C939EA73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90900"/>
            <a:ext cx="29337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Use short passenger-facing language, keep essential timing visible, and avoid exposing backend calculations unless the user opens supporting details.</a:t>
            </a:r>
          </a:p>
        </p:txBody>
      </p:sp>
    </p:spTree>
    <p:extLst>
      <p:ext uri="{BB962C8B-B14F-4D97-AF65-F5344CB8AC3E}">
        <p14:creationId xmlns:p14="http://schemas.microsoft.com/office/powerpoint/2010/main" val="20334595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569A1B-4CEA-4414-B405-95EBCB65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666F"/>
                </a:solidFill>
              </a:defRPr>
            </a:pPr>
            <a:r>
              <a:rPr sz="1050" b="1">
                <a:solidFill>
                  <a:srgbClr val="00666F"/>
                </a:solidFill>
              </a:rPr>
              <a:t>AIRBORDER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BC4A3-AC8E-4465-9378-F4887098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Persona: an international traveler with a high-friction layover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6CEFD-43F9-4448-9235-F1ABA295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8794A-4969-4A00-B562-D42C38EF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143250" cy="3714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7F7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38ABC-94CD-4E5C-91FE-1F54F92F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4787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0666F"/>
                </a:solidFill>
              </a:defRPr>
            </a:pPr>
            <a:r>
              <a:rPr sz="3000" b="1">
                <a:solidFill>
                  <a:srgbClr val="00666F"/>
                </a:solidFill>
              </a:rPr>
              <a:t>Alex Chen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DCD33-A8B6-41EF-B80F-FF3C0CFE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38-year-old Singaporean business traveler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Bangkok → Tokyo → Los Angeles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Time-sensitive, budget-aware, carrying checked baggage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D5A8A-E8C9-461D-96B7-DFD1BB3F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Success means she reaches boarding calmly, not just that she sees a list of places.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8774A-9CB9-4262-B7A7-2C9AB5CB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33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871A5-B290-4F04-B47B-D9727CE0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47850"/>
            <a:ext cx="621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Needs to know whether she must reclaim and recheck bags.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9707C-B8D0-4143-9212-F033B3C9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79C1C-8B9B-4A42-B286-A2BF2CF0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28900"/>
            <a:ext cx="621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Wants a work pod, shower, affordable food, or a short city visit if time allows.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181BD-B03C-4778-BDD7-E524F965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95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9C9C8D-CC81-4FD2-B94F-D0BA4711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09950"/>
            <a:ext cx="621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Prefers clear route steps over technical confidence labels.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6D032-666B-40EA-B720-94EB1EA7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76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75095E-4646-41EF-A6B0-64E48413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91000"/>
            <a:ext cx="6210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Needs entry and transit information in plain language, with links kept inside the app.</a:t>
            </a:r>
          </a:p>
        </p:txBody>
      </p:sp>
    </p:spTree>
    <p:extLst>
      <p:ext uri="{BB962C8B-B14F-4D97-AF65-F5344CB8AC3E}">
        <p14:creationId xmlns:p14="http://schemas.microsoft.com/office/powerpoint/2010/main" val="1674637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274790-AFBB-4D93-AA5A-E88CC0D4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666F"/>
                </a:solidFill>
              </a:defRPr>
            </a:pPr>
            <a:r>
              <a:rPr sz="1050" b="1">
                <a:solidFill>
                  <a:srgbClr val="00666F"/>
                </a:solidFill>
              </a:rPr>
              <a:t>AIRBORDER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D059C-40DE-4296-9A03-F5330E50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Scenario: BKK–HND–NRT–LAX from an imported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989A7-652E-40E9-9211-0A57C5B8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5050D-8938-48C4-8978-5E83B80B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809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D9FF4-8983-45D7-89B5-524545F7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1504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Depart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BKK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0A87D-3622-4716-AC85-3EB366B5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95550"/>
            <a:ext cx="95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66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C64B5-5D87-45D7-81EB-FF51C5F1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00250"/>
            <a:ext cx="1809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217A4-4911-4939-B620-D68F32D3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71700"/>
            <a:ext cx="1504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Arrive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HND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4A631-882D-41DA-8AB1-6CDACC80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95550"/>
            <a:ext cx="95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66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D9816-7D9A-4A42-B04A-F029B228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00250"/>
            <a:ext cx="1809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4B10A-3BE2-40B7-A7C3-DCA57CAF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04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Transfer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HND → NRT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3239C-B839-4916-B795-9B164276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95550"/>
            <a:ext cx="95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66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C2395-8F57-414E-B6C8-67483967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00250"/>
            <a:ext cx="1809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CD9E30-B1FC-46C1-88AC-220A05D9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71700"/>
            <a:ext cx="1504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Board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NRT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5016A-C86F-4429-B069-7F5BBF4A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95550"/>
            <a:ext cx="95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666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9F21DB-EB18-41AE-B903-48C7069D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00250"/>
            <a:ext cx="1809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D2F64-F956-41BA-90A4-C9E9FDAF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71700"/>
            <a:ext cx="1504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Arrive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LAX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9D0616-E16E-4752-AF0C-B38E6F61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238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7E8553-E861-4237-964F-D5F5D3AE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6F"/>
          </a:solidFill>
          <a:ln xmlns:a="http://schemas.openxmlformats.org/drawingml/2006/main" w="0">
            <a:solidFill>
              <a:srgbClr val="0066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0E5DBC-9E63-491F-BD2F-81232B3B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8620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Core question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E6E665-1E1D-46A6-A4C4-978919F0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2838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Can the passenger safely use the layover for rest, work, food, shopping, a hotel, or a city visit?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0103D9-B591-4C70-B9D2-AA3C08F0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238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227171-2D40-4FAC-A8B3-BD165A7A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70A956-47A8-49BD-B164-C8E0168A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8620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Additional scenario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836E88-463E-473C-B532-C5D3156F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48150"/>
            <a:ext cx="2838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The ticket’s transfer details determine the plan: this self-transfer needs an HND → NRT airport transfer before the next flight.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B35C1A-53EE-419A-89BE-16170526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3238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D1378C-2059-40DB-B80C-D0AC383A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B5A4FF-E4F2-4755-883E-CA25AE10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8620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Passenger outcome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EB74CE-D000-400E-81BC-41DCBF6D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48150"/>
            <a:ext cx="2838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The app leads with the next action, baggage direction, and the quickest airport-transfer choices, then shows the rest of the plan.</a:t>
            </a:r>
          </a:p>
        </p:txBody>
      </p:sp>
    </p:spTree>
    <p:extLst>
      <p:ext uri="{BB962C8B-B14F-4D97-AF65-F5344CB8AC3E}">
        <p14:creationId xmlns:p14="http://schemas.microsoft.com/office/powerpoint/2010/main" val="9608656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0D8426-B895-4490-9E7E-B967949D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666F"/>
                </a:solidFill>
              </a:defRPr>
            </a:pPr>
            <a:r>
              <a:rPr sz="1050" b="1">
                <a:solidFill>
                  <a:srgbClr val="00666F"/>
                </a:solidFill>
              </a:rPr>
              <a:t>AIRBORDER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45407-ADF6-4A00-B3AA-E2B4052A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Storyboard: from ticket scan to boarding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F5397-EBC1-45B0-9205-6625F245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555D2-8E3B-4069-A42F-D5754BE0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866900" cy="32956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6EA62-895B-4B30-945D-6F58567F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00666F"/>
                </a:solidFill>
              </a:defRPr>
            </a:pPr>
            <a:r>
              <a:rPr sz="3300" b="1">
                <a:solidFill>
                  <a:srgbClr val="00666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4DCD2-77AA-4DAE-949A-B95ADA92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Import ticket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978EA-C5BD-457C-BB13-FB6600B0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1485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Import a PDF, image, or saved ticket. The app reads the route, airports, transfer type, and baggage direction.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C055F-E06D-4BE2-9E10-0E044695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90700"/>
            <a:ext cx="1866900" cy="32956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0A206-A14D-4233-AADE-13AED9F9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00250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00666F"/>
                </a:solidFill>
              </a:defRPr>
            </a:pPr>
            <a:r>
              <a:rPr sz="3300" b="1">
                <a:solidFill>
                  <a:srgbClr val="00666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64AC7-3E00-4C29-BABC-C6217125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670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Before landing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70CB2-2BBF-43FB-8EA1-080BED29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81375"/>
            <a:ext cx="1485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Flight progress, weather, and delay outlook update while offline details stay usable.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D685D-E750-429E-8870-9F653A7A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90700"/>
            <a:ext cx="1866900" cy="32956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81B829-5A54-4820-A01B-DF56F7F9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00666F"/>
                </a:solidFill>
              </a:defRPr>
            </a:pPr>
            <a:r>
              <a:rPr sz="3300" b="1">
                <a:solidFill>
                  <a:srgbClr val="00666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AF158-B2E6-4484-B77B-B3FFB115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670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At the airport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43C26-D112-404D-8718-D4178688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81375"/>
            <a:ext cx="1485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The journey screen shows the active connection, baggage step, route, gate, and urgent changes.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A8C63-6062-47BE-A3EF-843E6F64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90700"/>
            <a:ext cx="1866900" cy="32956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AA44F-F6ED-44FD-AF7C-F5F71403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00250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00666F"/>
                </a:solidFill>
              </a:defRPr>
            </a:pPr>
            <a:r>
              <a:rPr sz="3300" b="1">
                <a:solidFill>
                  <a:srgbClr val="00666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E94475-9F9A-4B10-8A6B-308A2448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670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Choose a 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431DBF-FC8B-4817-92AA-BD4B4EEB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81375"/>
            <a:ext cx="1485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Compare rest, work, food, shops, airport facilities, nearby hotels, or city options.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6523F-7272-43B4-8541-7B8AF079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90700"/>
            <a:ext cx="1866900" cy="32956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26BCD7-A9E6-4F0B-8E33-6C290D97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00250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00666F"/>
                </a:solidFill>
              </a:defRPr>
            </a:pPr>
            <a:r>
              <a:rPr sz="3300" b="1">
                <a:solidFill>
                  <a:srgbClr val="00666F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7E0A25-C5C8-430E-8007-CDB495AC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Get back on 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3A3BF0-FAFC-4A24-B4CA-FC1ECEC9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81375"/>
            <a:ext cx="1485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Map, globe, and AR guidance lead through the airport, between airports, or to a city stop and back to the gate.</a:t>
            </a:r>
          </a:p>
        </p:txBody>
      </p:sp>
    </p:spTree>
    <p:extLst>
      <p:ext uri="{BB962C8B-B14F-4D97-AF65-F5344CB8AC3E}">
        <p14:creationId xmlns:p14="http://schemas.microsoft.com/office/powerpoint/2010/main" val="988995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23B00F-7463-42D8-93DA-81773D40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666F"/>
                </a:solidFill>
              </a:defRPr>
            </a:pPr>
            <a:r>
              <a:rPr sz="1050" b="1">
                <a:solidFill>
                  <a:srgbClr val="00666F"/>
                </a:solidFill>
              </a:rPr>
              <a:t>AIRBORDER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5A809-45BC-40C4-AA08-3F0F6D4C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User flow: one itinerary, many grounded choices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3090A-32DC-439D-BA5E-8CA51C8E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11A1A-EF12-487F-82EA-1EEB8020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809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AE4DA-920E-4453-91EA-1D51561C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Import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ticket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C5EAB-4EBC-458D-8823-A342AFEF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76475"/>
            <a:ext cx="95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66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F21A6-4F4F-4261-8DE2-6B6B90B3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90700"/>
            <a:ext cx="1809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91DA6-266E-4837-8DBC-3EC92008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6215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Read route,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transfer &amp; bags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842FA-F64C-4C0D-8523-37F6B7D3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76475"/>
            <a:ext cx="95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66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F29EF0-2D7E-43B8-8DE6-194A0F14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90700"/>
            <a:ext cx="1809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FDF78-35E3-4E7C-97A7-511C0B52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6215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Build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connection 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FBAD0-3ADB-4024-A05E-F941816B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76475"/>
            <a:ext cx="95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66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CCEAA7-B671-487A-B295-F674BE92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90700"/>
            <a:ext cx="1809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2482E-8BB5-40EE-B4C1-15DCCC75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6215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Choose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airport or city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EBFFA8-5B0C-4682-9EAD-82A4D44E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76475"/>
            <a:ext cx="95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666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A101A-3984-4B0B-A9A5-4E96F2CF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90700"/>
            <a:ext cx="1809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52A080-BF3F-40F4-8CF8-B62D49BC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62150"/>
            <a:ext cx="1504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Navigate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and receive alerts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0694BB-1A38-453F-9D2D-A97FF8DE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99822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A56D7A-38A5-4FF2-92C9-B473A17C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81450"/>
            <a:ext cx="9296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11827"/>
                </a:solidFill>
              </a:defRPr>
            </a:pPr>
            <a:r>
              <a:rPr sz="2100" b="0">
                <a:solidFill>
                  <a:srgbClr val="111827"/>
                </a:solidFill>
              </a:rPr>
              <a:t>The app uses direct travel language: “Collect bags at HND,” “Transfer to NRT,” “Show route,” and “Return to gate.” Ticket details determine the connection steps.</a:t>
            </a:r>
          </a:p>
        </p:txBody>
      </p:sp>
    </p:spTree>
    <p:extLst>
      <p:ext uri="{BB962C8B-B14F-4D97-AF65-F5344CB8AC3E}">
        <p14:creationId xmlns:p14="http://schemas.microsoft.com/office/powerpoint/2010/main" val="11862542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273C0-A9E9-497A-9DFE-9DE4967F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666F"/>
                </a:solidFill>
              </a:defRPr>
            </a:pPr>
            <a:r>
              <a:rPr sz="1050" b="1">
                <a:solidFill>
                  <a:srgbClr val="00666F"/>
                </a:solidFill>
              </a:rPr>
              <a:t>AIRBORDER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040C1-65F4-4227-8DDD-A9902326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Implemented interface: the journey starts from the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EDED3-CD2A-4A54-B99F-8D161082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4BECF-565E-42BB-A4CB-6CAB8890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238500" cy="4714875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6e50f441c4b58"/>
          <a:stretch xmlns:a="http://schemas.openxmlformats.org/drawingml/2006/main"/>
        </p:blipFill>
        <p:spPr>
          <a:xfrm xmlns:a="http://schemas.openxmlformats.org/drawingml/2006/main">
            <a:off x="1245497" y="1695450"/>
            <a:ext cx="2081005" cy="4524375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062E6-DBBB-4E87-B852-A3E9F7FE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38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9F374-542E-401A-A819-8DC9EAC2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952625"/>
            <a:ext cx="6067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1827"/>
                </a:solidFill>
              </a:defRPr>
            </a:pPr>
            <a:r>
              <a:rPr sz="2025" b="0">
                <a:solidFill>
                  <a:srgbClr val="111827"/>
                </a:solidFill>
              </a:rPr>
              <a:t>A day-of-travel summary shows the ticket route, active airport, gate, baggage step, weather, and return plan.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086EF-DBFD-47DB-9AAE-302ED093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1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F1A67-8244-467F-99F3-A2C53CB1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828925"/>
            <a:ext cx="6067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1827"/>
                </a:solidFill>
              </a:defRPr>
            </a:pPr>
            <a:r>
              <a:rPr sz="2025" b="0">
                <a:solidFill>
                  <a:srgbClr val="111827"/>
                </a:solidFill>
              </a:rPr>
              <a:t>Guidance stays available from airport to airport and through a city stop, with the departure gate kept in 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D9A001-4354-427D-AD79-778572B6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5D1DB-CEAA-4E85-8E7D-85CADC21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705225"/>
            <a:ext cx="6067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1827"/>
                </a:solidFill>
              </a:defRPr>
            </a:pPr>
            <a:r>
              <a:rPr sz="2025" b="0">
                <a:solidFill>
                  <a:srgbClr val="111827"/>
                </a:solidFill>
              </a:rPr>
              <a:t>Bottom navigation mirrors familiar airline-app patterns: trip, flights, guide/map, and more options.</a:t>
            </a:r>
          </a:p>
        </p:txBody>
      </p:sp>
    </p:spTree>
    <p:extLst>
      <p:ext uri="{BB962C8B-B14F-4D97-AF65-F5344CB8AC3E}">
        <p14:creationId xmlns:p14="http://schemas.microsoft.com/office/powerpoint/2010/main" val="20860840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73EEDA-FBF4-4925-B1FF-98DD285A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666F"/>
                </a:solidFill>
              </a:defRPr>
            </a:pPr>
            <a:r>
              <a:rPr sz="1050" b="1">
                <a:solidFill>
                  <a:srgbClr val="00666F"/>
                </a:solidFill>
              </a:rPr>
              <a:t>AIRBORDER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13C04-4437-497E-A92B-2B96E11C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Demo mode walks through the system without manual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EB17C-6508-4055-9199-ED0A1D65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7F3ED-D75D-4670-8535-E0D2D021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3333750" cy="48006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78ad7f7174ce3"/>
          <a:stretch xmlns:a="http://schemas.openxmlformats.org/drawingml/2006/main"/>
        </p:blipFill>
        <p:spPr>
          <a:xfrm xmlns:a="http://schemas.openxmlformats.org/drawingml/2006/main">
            <a:off x="1254357" y="1676400"/>
            <a:ext cx="2120435" cy="46101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2C10F-4CC5-4634-9C0B-68FF2449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533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5F7C9-8991-4BD1-BDEC-7D6FD7D5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6F"/>
          </a:solidFill>
          <a:ln xmlns:a="http://schemas.openxmlformats.org/drawingml/2006/main" w="0">
            <a:solidFill>
              <a:srgbClr val="00666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66176-8E99-444F-8644-C18B327B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120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Terminal launch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4252C-C35D-4E9F-AF9D-1442B0D0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43150"/>
            <a:ext cx="4933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See Build-and-Device-Test.md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CEAB6-8591-45C6-9BE1-4E8F4C88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81350"/>
            <a:ext cx="5334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5EAB9-2543-4A5D-A407-ED0721A7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813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924C0-8A50-46F9-9851-7DF3CBB6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5280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What it shows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910CD-7EAF-4648-8933-990E06FD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4933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Imported ticket route, baggage direction, self-transfer or automatic transfer, global airport map guidance, AR preview, and return-to-gate behavior.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D6D42-46DF-4BD1-997A-99E1BB05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00600"/>
            <a:ext cx="533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C5047E-7EEA-4DCE-9D09-E575A8A3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006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7EC345-F1FB-4ED5-9F56-63869730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7205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Why it helps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AE610-08A0-4B12-BE7D-29016AAC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34000"/>
            <a:ext cx="4933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The repository includes a sample BKK → HND → NRT → LAX ticket and instructions for Simulator or an iPhone build.</a:t>
            </a:r>
          </a:p>
        </p:txBody>
      </p:sp>
    </p:spTree>
    <p:extLst>
      <p:ext uri="{BB962C8B-B14F-4D97-AF65-F5344CB8AC3E}">
        <p14:creationId xmlns:p14="http://schemas.microsoft.com/office/powerpoint/2010/main" val="1381049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04DBDB-A18C-4919-9017-EA41C312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666F"/>
                </a:solidFill>
              </a:defRPr>
            </a:pPr>
            <a:r>
              <a:rPr sz="1050" b="1">
                <a:solidFill>
                  <a:srgbClr val="00666F"/>
                </a:solidFill>
              </a:rPr>
              <a:t>AIRBORDER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E4EB5-68D3-49AF-B32B-273070CE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Wireframes organize the app around traveler jobs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3C111-5FAA-47CD-81AA-AE39FB7C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17CBC-B465-4232-9CBA-22E59A07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71650"/>
            <a:ext cx="1752600" cy="34290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05B02-6363-411F-A26F-B79D10B2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193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0666F"/>
                </a:solidFill>
              </a:defRPr>
            </a:pPr>
            <a:r>
              <a:rPr sz="1800" b="1">
                <a:solidFill>
                  <a:srgbClr val="00666F"/>
                </a:solidFill>
              </a:rPr>
              <a:t>Journey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7DEB4-6965-4E95-830D-D9660AC7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71750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28BAF-9A7E-44B9-BF23-59F78894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57500"/>
            <a:ext cx="1409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Flight timeline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Gate + boarding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Return route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Weather outlook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89E1E-8385-415F-9C3E-EB3FD816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29150"/>
            <a:ext cx="1219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0666F"/>
          </a:solidFill>
          <a:ln xmlns:a="http://schemas.openxmlformats.org/drawingml/2006/main" w="9525">
            <a:solidFill>
              <a:srgbClr val="00666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A1EB0-C389-4AB4-8D90-C2C75A0A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6767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Open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B1B7F-CAD9-4F59-8873-E9E22961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771650"/>
            <a:ext cx="1752600" cy="34290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3866C-EDB9-4C9C-920B-C418FDC9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0193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0666F"/>
                </a:solidFill>
              </a:defRPr>
            </a:pPr>
            <a:r>
              <a:rPr sz="1800" b="1">
                <a:solidFill>
                  <a:srgbClr val="00666F"/>
                </a:solidFill>
              </a:rPr>
              <a:t>Flights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F84C7-CC0B-4B65-B7AB-4CE21509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571750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408117-2D36-448F-A131-BBBE6AA4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57500"/>
            <a:ext cx="1409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Add / scan ticket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Book &amp; bags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Connection steps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Provider refresh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FDDAA-652E-4976-8513-83C13F74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629150"/>
            <a:ext cx="1219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0666F"/>
          </a:solidFill>
          <a:ln xmlns:a="http://schemas.openxmlformats.org/drawingml/2006/main" w="9525">
            <a:solidFill>
              <a:srgbClr val="0066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F21C0-8A74-438A-A1F2-744167DE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6767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Open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16023A-6905-4C29-9148-06744340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771650"/>
            <a:ext cx="1752600" cy="34290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991A09-B244-4A07-ABC8-FC9F649B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0193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0666F"/>
                </a:solidFill>
              </a:defRPr>
            </a:pPr>
            <a:r>
              <a:rPr sz="1800" b="1">
                <a:solidFill>
                  <a:srgbClr val="00666F"/>
                </a:solidFill>
              </a:rPr>
              <a:t>Layover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631ED-92C3-4289-A192-0DBFB908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571750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761993-04BF-4B1E-87CA-CD26E119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857500"/>
            <a:ext cx="1409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Airport services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Nearby hotels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Food + shops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City visit options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620A6A-A250-44BB-AECA-CF91548B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629150"/>
            <a:ext cx="1219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0666F"/>
          </a:solidFill>
          <a:ln xmlns:a="http://schemas.openxmlformats.org/drawingml/2006/main" w="9525">
            <a:solidFill>
              <a:srgbClr val="00666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D0DD2-A987-46F6-8BBC-9F73D3DB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6767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Open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5E2B7A-93CB-46B5-96EF-F83AF916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771650"/>
            <a:ext cx="1752600" cy="34290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6A2BB5-EFB4-4B70-942D-CA237776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0193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0666F"/>
                </a:solidFill>
              </a:defRPr>
            </a:pPr>
            <a:r>
              <a:rPr sz="1800" b="1">
                <a:solidFill>
                  <a:srgbClr val="00666F"/>
                </a:solidFill>
              </a:rPr>
              <a:t>Map / 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9CF2E2-E903-49B4-9B22-4F0F6212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571750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1EF666-B4BB-4147-BF89-9F6FF546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857500"/>
            <a:ext cx="1409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Venue route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Indoor steps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Direction arrows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Back-to-gate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6DDB2E-E383-4306-8F70-5FA217D7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629150"/>
            <a:ext cx="1219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0666F"/>
          </a:solidFill>
          <a:ln xmlns:a="http://schemas.openxmlformats.org/drawingml/2006/main" w="9525">
            <a:solidFill>
              <a:srgbClr val="0066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0D6F21-05F0-4E37-98A2-628357A5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6767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Open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76A6CB-102B-4E86-BA01-95ACE330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771650"/>
            <a:ext cx="1752600" cy="34290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F8C282-B022-45F0-8C61-D22D69C4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193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0666F"/>
                </a:solidFill>
              </a:defRPr>
            </a:pPr>
            <a:r>
              <a:rPr sz="1800" b="1">
                <a:solidFill>
                  <a:srgbClr val="00666F"/>
                </a:solidFill>
              </a:rPr>
              <a:t>Profile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05E51D-C1FF-4004-807D-C46621A1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571750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F278E4-9613-4EF7-9E68-5301550E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857500"/>
            <a:ext cx="1409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Nationality text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Documents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Budget</a:t>
            </a:r>
          </a:p>
          <a:p xmlns:a="http://schemas.openxmlformats.org/drawingml/2006/main">
            <a:pPr>
              <a:buNone/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Accessibility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C88217-DFD9-4952-BF58-6726F1C9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629150"/>
            <a:ext cx="1219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0666F"/>
          </a:solidFill>
          <a:ln xmlns:a="http://schemas.openxmlformats.org/drawingml/2006/main" w="9525">
            <a:solidFill>
              <a:srgbClr val="00666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C1E706-4EB4-499F-9F17-E23201FA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6767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Open</a:t>
            </a:r>
          </a:p>
        </p:txBody>
      </p:sp>
    </p:spTree>
    <p:extLst>
      <p:ext uri="{BB962C8B-B14F-4D97-AF65-F5344CB8AC3E}">
        <p14:creationId xmlns:p14="http://schemas.microsoft.com/office/powerpoint/2010/main" val="20237826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DCA7E-27C1-4756-9EBD-42AB76D1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666F"/>
                </a:solidFill>
              </a:defRPr>
            </a:pPr>
            <a:r>
              <a:rPr sz="1050" b="1">
                <a:solidFill>
                  <a:srgbClr val="00666F"/>
                </a:solidFill>
              </a:rPr>
              <a:t>AIRBORDER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5BE7D-3800-4039-B0E0-4FDBCEFF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Design choices follow airline-app conventions and usability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84790-13FD-4983-9A14-617D92BD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86E6B-12BA-44AD-B0F9-DB649F05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684CF-B91C-4FD5-BBAD-F3885A2B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6F"/>
          </a:solidFill>
          <a:ln xmlns:a="http://schemas.openxmlformats.org/drawingml/2006/main" w="0">
            <a:solidFill>
              <a:srgbClr val="00666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17CC3-633C-4041-9DB2-C3999052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Day-of-travel hierarchy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5AC7A-1A03-4F0D-B9BF-0DC671C2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9337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Delta, American, and Singapore Airlines all foreground trip status, boarding passes, gate changes, and alerts. AirBorder makes the active layover the home screen.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60980-22B7-4B4B-828D-81F87815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335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64ABEE-32F5-4B6F-92A7-2B1E0E51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335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DBE20-F1D4-4EB3-8627-6650F206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9050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Visible system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8FE969-5475-4F2A-82B2-17087FEF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66950"/>
            <a:ext cx="29337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The interface explains current gate, route state, weather, and refresh state in user language so passengers know what changed.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BF366-4E9D-4E80-B49F-504B1ABB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335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7B45F-71FE-41A8-9AEE-6E7E3663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335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solidFill>
              <a:srgbClr val="C039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19C45-5FAE-4A8B-A646-105A3635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Clear exit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F6A8A-8AB3-4DD9-BF4F-AAEFAA57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29337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A persistent return-to-gate action acts like an emergency exit: it gets the user back to the main travel objective from any screen.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EB7266-AF38-44B0-BFA3-30733CEC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Sources: Delta mobile app, American Airlines app, SingaporeAir app, Nielsen Norman Group usability heuristics.</a:t>
            </a:r>
          </a:p>
        </p:txBody>
      </p:sp>
    </p:spTree>
    <p:extLst>
      <p:ext uri="{BB962C8B-B14F-4D97-AF65-F5344CB8AC3E}">
        <p14:creationId xmlns:p14="http://schemas.microsoft.com/office/powerpoint/2010/main" val="16671800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F968FA-220F-4EC6-8DE3-C1486DEA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666F"/>
                </a:solidFill>
              </a:defRPr>
            </a:pPr>
            <a:r>
              <a:rPr sz="1050" b="1">
                <a:solidFill>
                  <a:srgbClr val="00666F"/>
                </a:solidFill>
              </a:rPr>
              <a:t>AIRBORDER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617B0-BED0-4B9B-9CDC-CA9BCADB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Architecture combines ticket parsing, airport data, and guidance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8A5A9-5062-4B4D-9687-A7977EA6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A99F5-0846-4167-9985-DA336A86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3559A-E5A1-49A9-BA68-9B425886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6F"/>
          </a:solidFill>
          <a:ln xmlns:a="http://schemas.openxmlformats.org/drawingml/2006/main" w="0">
            <a:solidFill>
              <a:srgbClr val="00666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D2650-CC5D-4F98-8C39-C58EFB4D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Itinerary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867D3-D83F-43A2-852A-5EAA9918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198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Multi-leg flights, airport changes, transfer type, and baggage direction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7986D-6831-45FB-8D66-5F7FB294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907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C1C78-6516-49CB-8579-2BD25727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907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09CD6-78D9-4B69-AAF6-B37B30EA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621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Traveler profile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0824DA-420D-4ECC-AA80-ACF550C8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24100"/>
            <a:ext cx="198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Nationality, documents, budget, fatigue, accessibility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DB6E0-6858-418A-A0F4-D33D577B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907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56B22-DA19-409E-9BC5-BBD66354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907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B37408-0119-4B40-B102-8230E66A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621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Provider proxy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356EF1-0317-457A-BAD5-BEC4E303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24100"/>
            <a:ext cx="198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Airport lookup, local search, maps, city transfer routes, weather, and places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399D7A-3902-4F8C-A756-E7B035B1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907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2B09EB-D5F6-4531-8962-13171D9D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907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D2FE4-A985-4FE7-85A8-BD270275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621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On-device cache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11109D-FDE4-40E0-B764-54B8526A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24100"/>
            <a:ext cx="1981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Saved tickets, offline fixtures, and personal preferences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FF527D-F5C8-43DC-9002-85B09C21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76700"/>
            <a:ext cx="1714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EF5D88-9BAA-4281-BEBD-5809C9B7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2481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Build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A65773-464D-4873-8DE8-5675E94D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86275"/>
            <a:ext cx="285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666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900AC6-7B55-42BC-A547-E9737D5E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76700"/>
            <a:ext cx="1714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A54483-C7A8-4579-8429-A750192A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481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Compare plans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D1E125-2D61-4138-BE16-4D05DB64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486275"/>
            <a:ext cx="285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666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8B5CDF-7B25-4879-8F89-048D70B9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76700"/>
            <a:ext cx="1714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1E24E8-0EA5-41A5-BA7D-D6AFE96B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481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Route user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28A712-841E-415D-99A1-002EB83D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86275"/>
            <a:ext cx="285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666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EB5352-34B4-46B8-906B-7E97165A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76700"/>
            <a:ext cx="1714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4233DC-25BE-45AD-B3CB-2B939A85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481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Notify changes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24A8BF-5FE7-412B-9E1D-28B9B501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02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AirportDirectory resolves known airports from the bundled registry and expands coverage with MapKit search, so ticket-driven guidance can adapt beyond the Japan demo route.</a:t>
            </a:r>
          </a:p>
        </p:txBody>
      </p:sp>
    </p:spTree>
    <p:extLst>
      <p:ext uri="{BB962C8B-B14F-4D97-AF65-F5344CB8AC3E}">
        <p14:creationId xmlns:p14="http://schemas.microsoft.com/office/powerpoint/2010/main" val="4187489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DB5471-BD1D-47D1-923E-58B7A668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666F"/>
                </a:solidFill>
              </a:defRPr>
            </a:pPr>
            <a:r>
              <a:rPr sz="1050" b="1">
                <a:solidFill>
                  <a:srgbClr val="00666F"/>
                </a:solidFill>
              </a:rPr>
              <a:t>AIRBORDER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184D2-F76F-42DE-BE29-CBFDEFAC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Build, demo, and validation are ready for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B6B94-B688-42EB-A490-5E6FFD83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solidFill>
              <a:srgbClr val="D7DC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B81BA-9547-4A27-A420-DD63B57C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3095625" cy="4552950"/>
          </a:xfrm>
          <a:prstGeom xmlns:a="http://schemas.openxmlformats.org/drawingml/2006/main" prst="roundRect">
            <a:avLst>
              <a:gd name="adj" fmla="val 369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f70677803748b9"/>
          <a:stretch xmlns:a="http://schemas.openxmlformats.org/drawingml/2006/main"/>
        </p:blipFill>
        <p:spPr>
          <a:xfrm xmlns:a="http://schemas.openxmlformats.org/drawingml/2006/main">
            <a:off x="1211299" y="1752600"/>
            <a:ext cx="2006527" cy="4362450"/>
          </a:xfrm>
          <a:prstGeom xmlns:a="http://schemas.openxmlformats.org/drawingml/2006/main" prst="roundRect">
            <a:avLst>
              <a:gd name="adj" fmla="val 393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23AB7-A75A-45FB-BEC0-46B7FC98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590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B746F-6ECA-4927-92B7-597B5A7F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6F"/>
          </a:solidFill>
          <a:ln xmlns:a="http://schemas.openxmlformats.org/drawingml/2006/main" w="0">
            <a:solidFill>
              <a:srgbClr val="00666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53F64-3228-45EB-B188-4017E03C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62150"/>
            <a:ext cx="550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Launch commands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090D7-1DE3-47B6-AE06-D71A3FF8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24100"/>
            <a:ext cx="550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Simulator walkthrough · sample ticket import · AR preview · city 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89B70-FDEF-4A6E-8E33-01691FB0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00400"/>
            <a:ext cx="590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D6DE1-EECE-42C0-89E2-4E4E4A4F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004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51448-53C0-44EB-AB2F-41DDAAEF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71850"/>
            <a:ext cx="550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Automated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748C9-6F62-4CE1-BE3F-76E4780B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33800"/>
            <a:ext cx="550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106 automated tests passed. The ticket fixture verifies BKK → HND → NRT → LAX, baggage handling, and airport-transfer behavior.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09846-C099-4428-9775-26AD1521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10100"/>
            <a:ext cx="590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EB7E09-BCA0-41DC-A3BF-101A7724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101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100ED-6961-45B6-AB37-058E3DFD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81550"/>
            <a:ext cx="550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Next build priorities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D1CD10-1D9F-4210-9E2C-F899E540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143500"/>
            <a:ext cx="550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Use the GitHub build guide to run in Simulator or on a personal iPhone. Future work: live provider credentials, indoor map partnerships, and on-device AR testing.</a:t>
            </a:r>
          </a:p>
        </p:txBody>
      </p:sp>
    </p:spTree>
    <p:extLst>
      <p:ext uri="{BB962C8B-B14F-4D97-AF65-F5344CB8AC3E}">
        <p14:creationId xmlns:p14="http://schemas.microsoft.com/office/powerpoint/2010/main" val="3530224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AA43D-54E0-4DF7-AECF-961A4B59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66800"/>
            <a:ext cx="9525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AirBorder turns a stressful layover into a clear travel plan.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844D4-6757-4527-874B-5D37A6C0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B6472"/>
                </a:solidFill>
              </a:defRPr>
            </a:pPr>
            <a:r>
              <a:rPr sz="1950" b="0">
                <a:solidFill>
                  <a:srgbClr val="5B6472"/>
                </a:solidFill>
              </a:rPr>
              <a:t>AirBorder turns an imported itinerary into a clear connection plan with transfer, baggage, maps, globe, AR, and return-to-gate guidance.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05756-EA15-4DFF-8792-72CEBA0E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33875"/>
            <a:ext cx="685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6F"/>
          </a:solidFill>
          <a:ln xmlns:a="http://schemas.openxmlformats.org/drawingml/2006/main" w="0">
            <a:solidFill>
              <a:srgbClr val="00666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43DF6-6306-4AC7-B105-4C8874EA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0666F"/>
                </a:solidFill>
              </a:defRPr>
            </a:pPr>
            <a:r>
              <a:rPr sz="2100" b="1">
                <a:solidFill>
                  <a:srgbClr val="00666F"/>
                </a:solidFill>
              </a:rPr>
              <a:t>Build: GitHub → Build-and-Device-Test.md</a:t>
            </a:r>
          </a:p>
        </p:txBody>
      </p:sp>
    </p:spTree>
    <p:extLst>
      <p:ext uri="{BB962C8B-B14F-4D97-AF65-F5344CB8AC3E}">
        <p14:creationId xmlns:p14="http://schemas.microsoft.com/office/powerpoint/2010/main" val="12205290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2026-07-26T01:57:05.5180000Z</dcterms:created>
  <dcterms:modified xsi:type="dcterms:W3CDTF">2026-07-26T01:57:05.5180000Z</dcterms:modified>
</coreProperties>
</file>